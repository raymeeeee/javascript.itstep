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media/image9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3"/>
    <p:sldId id="257" r:id="rId4"/>
    <p:sldId id="259" r:id="rId5"/>
    <p:sldId id="260" r:id="rId6"/>
    <p:sldId id="278" r:id="rId7"/>
    <p:sldId id="286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93" r:id="rId18"/>
    <p:sldId id="294" r:id="rId19"/>
    <p:sldId id="295" r:id="rId20"/>
    <p:sldId id="296" r:id="rId21"/>
    <p:sldId id="284" r:id="rId22"/>
    <p:sldId id="276" r:id="rId23"/>
    <p:sldId id="277" r:id="rId24"/>
    <p:sldId id="282" r:id="rId25"/>
    <p:sldId id="283" r:id="rId26"/>
    <p:sldId id="281" r:id="rId27"/>
    <p:sldId id="279" r:id="rId28"/>
    <p:sldId id="297" r:id="rId29"/>
    <p:sldId id="280" r:id="rId30"/>
    <p:sldId id="285" r:id="rId31"/>
    <p:sldId id="271" r:id="rId32"/>
    <p:sldId id="274" r:id="rId33"/>
    <p:sldId id="275" r:id="rId34"/>
    <p:sldId id="272" r:id="rId35"/>
    <p:sldId id="298" r:id="rId36"/>
    <p:sldId id="300" r:id="rId37"/>
    <p:sldId id="299" r:id="rId38"/>
    <p:sldId id="301" r:id="rId39"/>
    <p:sldId id="302" r:id="rId40"/>
    <p:sldId id="287" r:id="rId41"/>
    <p:sldId id="288" r:id="rId42"/>
    <p:sldId id="289" r:id="rId43"/>
    <p:sldId id="290" r:id="rId44"/>
    <p:sldId id="291" r:id="rId45"/>
    <p:sldId id="292" r:id="rId46"/>
    <p:sldId id="27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3" d="100"/>
          <a:sy n="53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developer.mozilla.org/en-US/docs/Web/API/CanvasRenderingContext2D/shadowColor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web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web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webp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VincentGarreau/particles.js/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VincentGarreau/particles.js/?tab=readme-ov-file#options" TargetMode="Externa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hyperlink" Target="https://vincentgarreau.com/particles.js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hyperlink" Target="https://codesandbox.io/p/sandbox/optimistic-bush-wldrc5?file=%2Findex.js&amp;utm_medium=sandpack" TargetMode="External"/><Relationship Id="rId1" Type="http://schemas.openxmlformats.org/officeDocument/2006/relationships/hyperlink" Target="https://konvajs.org/&#13;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hyperlink" Target="https://generativeartistry.com/tutori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75543" y="802298"/>
            <a:ext cx="8979309" cy="2541431"/>
          </a:xfrm>
        </p:spPr>
        <p:txBody>
          <a:bodyPr/>
          <a:lstStyle/>
          <a:p>
            <a:r>
              <a:rPr lang="en-US" dirty="0"/>
              <a:t>Canvas</a:t>
            </a:r>
            <a:r>
              <a:rPr lang="uk-UA" dirty="0"/>
              <a:t> в</a:t>
            </a:r>
            <a:r>
              <a:rPr lang="en-US" dirty="0"/>
              <a:t> JavaScript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Рисование на Холсте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Тег &lt;canvas&gt;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Тег &lt;canvas&gt;</a:t>
            </a:r>
            <a:r>
              <a:rPr lang="ru-RU" altLang="en-US" dirty="0"/>
              <a:t>создается в </a:t>
            </a:r>
            <a:r>
              <a:rPr lang="en-US" altLang="ru-RU" dirty="0"/>
              <a:t>HTML-</a:t>
            </a:r>
            <a:r>
              <a:rPr lang="ru-RU" altLang="en-US" dirty="0"/>
              <a:t>разметке и</a:t>
            </a:r>
            <a:r>
              <a:rPr lang="en-US" altLang="en-US" dirty="0"/>
              <a:t> дает по умолчанию прямоугольную область размером 300x150px</a:t>
            </a:r>
            <a:r>
              <a:rPr lang="ru-RU" altLang="en-US" dirty="0"/>
              <a:t>, но</a:t>
            </a:r>
            <a:r>
              <a:rPr lang="en-US" altLang="en-US" dirty="0"/>
              <a:t> предназначен для рисования </a:t>
            </a:r>
            <a:r>
              <a:rPr lang="en-US" altLang="en-US" b="1" dirty="0"/>
              <a:t>программными  методами</a:t>
            </a:r>
            <a:r>
              <a:rPr lang="ru-RU" altLang="en-US" b="1" dirty="0"/>
              <a:t> </a:t>
            </a:r>
            <a:r>
              <a:rPr lang="en-US" altLang="en-US" dirty="0"/>
              <a:t>с помощью JS-кода.  Как правило, для тега &lt;canvas&gt; задают атрибут </a:t>
            </a:r>
            <a:r>
              <a:rPr lang="en-US" altLang="en-US" b="1" dirty="0"/>
              <a:t>id</a:t>
            </a:r>
            <a:r>
              <a:rPr lang="en-US" altLang="en-US" dirty="0"/>
              <a:t>: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latin typeface="Courier New" panose="02070309020205020404" charset="0"/>
                <a:cs typeface="Courier New" panose="02070309020205020404" charset="0"/>
              </a:rPr>
              <a:t>&lt;canvas id="my-canvas"&gt;&lt;/</a:t>
            </a:r>
            <a:r>
              <a:rPr lang="en-US" altLang="en-US" dirty="0">
                <a:latin typeface="Courier New" panose="02070309020205020404" charset="0"/>
                <a:cs typeface="Courier New" panose="02070309020205020404" charset="0"/>
              </a:rPr>
              <a:t>canvas&gt;</a:t>
            </a:r>
            <a:endParaRPr lang="en-US" altLang="en-US" dirty="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 dirty="0"/>
              <a:t>или еще </a:t>
            </a:r>
            <a:r>
              <a:rPr lang="en-US" altLang="ru-RU" b="1" dirty="0"/>
              <a:t>width </a:t>
            </a:r>
            <a:r>
              <a:rPr lang="ru-RU" altLang="en-US" dirty="0"/>
              <a:t>и </a:t>
            </a:r>
            <a:r>
              <a:rPr lang="en-US" altLang="ru-RU" b="1" dirty="0"/>
              <a:t>height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latin typeface="Courier New" panose="02070309020205020404" charset="0"/>
                <a:cs typeface="Courier New" panose="02070309020205020404" charset="0"/>
              </a:rPr>
              <a:t>&lt;canvas id="my-canvas" width="450" height="500"&gt;&lt;/canvas&gt;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804545"/>
            <a:ext cx="9603105" cy="962660"/>
          </a:xfrm>
        </p:spPr>
        <p:txBody>
          <a:bodyPr/>
          <a:p>
            <a:r>
              <a:rPr lang="ru-RU" altLang="en-US"/>
              <a:t>Стили для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9603105" cy="4178300"/>
          </a:xfrm>
        </p:spPr>
        <p:txBody>
          <a:bodyPr>
            <a:normAutofit fontScale="30000"/>
          </a:bodyPr>
          <a:p>
            <a:pPr marL="0" indent="0">
              <a:buNone/>
            </a:pPr>
            <a:r>
              <a:rPr lang="en-US" altLang="en-US" sz="6665"/>
              <a:t>Ни в первом, ни во втором случае вы не увидите этой прямоугольной области, если выше/ниже него нет текста или пока не заданы css-свойства в виде background или border, т.к. canvas - это прозрачный по умолчанию элемент:</a:t>
            </a:r>
            <a:endParaRPr lang="en-US" altLang="en-US" sz="6665"/>
          </a:p>
          <a:p>
            <a:pPr marL="0" indent="0">
              <a:buNone/>
            </a:pPr>
            <a:r>
              <a:rPr lang="en-US" altLang="en-US" sz="4500"/>
              <a:t>#</a:t>
            </a:r>
            <a:r>
              <a:rPr lang="en-US" altLang="en-US" sz="45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my-canvas</a:t>
            </a:r>
            <a:r>
              <a:rPr lang="en-US" altLang="en-US" sz="4500"/>
              <a:t> </a:t>
            </a: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{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/>
              <a:t> </a:t>
            </a: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 background-color: #ccc;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  margin: 20px;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  border: 3px solid #777;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  width: 500px;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  height: 250px;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45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altLang="en-US" sz="45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Рисованние в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3528060"/>
            <a:ext cx="9603105" cy="262763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function drawCanvas()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var element = document.getElementById('mycanvas');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    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if(element.getContext)  {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  var context = element.getContext('2d');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  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altLang="en-US" sz="16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1451610" y="1950085"/>
            <a:ext cx="9603105" cy="11499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Для рисования на canvas для начала нужно обратиться к самому элементу. Проще и быстрее всего это сделать с помощью метода document.getElementById('some-id'). А затем сохранить в переменную (например, context) ссылку на двухмерный контекст методом  getContext('2d').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Свойства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для рисования в </a:t>
            </a:r>
            <a:r>
              <a:rPr lang="en-US" altLang="ru-RU"/>
              <a:t>canvas </a:t>
            </a:r>
            <a:r>
              <a:rPr lang="ru-RU" altLang="en-US"/>
              <a:t>чаще всего нужны его ширина и высота: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const canvas  = document.getElementById('mycanvas');</a:t>
            </a:r>
            <a:endParaRPr lang="en-US" altLang="en-US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console.log(canvas.width) // 300px по-умолчанию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console.log(canvas.height)//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150px по-умолчанию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>
                <a:sym typeface="+mn-ea"/>
              </a:rPr>
              <a:t>Рисование</a:t>
            </a:r>
            <a:r>
              <a:rPr lang="ru-RU" altLang="en-US">
                <a:sym typeface="+mn-ea"/>
              </a:rPr>
              <a:t> фигур в </a:t>
            </a:r>
            <a:r>
              <a:rPr lang="en-US" altLang="ru-RU">
                <a:sym typeface="+mn-ea"/>
              </a:rPr>
              <a:t>Canvas </a:t>
            </a:r>
            <a:endParaRPr lang="en-US" altLang="ru-RU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Рисование прямоугольника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985" y="2011045"/>
            <a:ext cx="5704205" cy="344868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&lt;canvas width="500" height="250" id="for_rect"&gt;&lt;/canvas&gt;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&lt;script&gt;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var canvas = document.getElementById('for_rect');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var context = canvas.getContext('2d');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context.fillStyle = "green";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context.fillRect(50,50,400,200); 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&lt;/script&gt;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66840" y="3685540"/>
            <a:ext cx="4645660" cy="232283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5" name="Content Placeholder 2"/>
          <p:cNvSpPr>
            <a:spLocks noGrp="1"/>
          </p:cNvSpPr>
          <p:nvPr/>
        </p:nvSpPr>
        <p:spPr>
          <a:xfrm>
            <a:off x="6266180" y="2011045"/>
            <a:ext cx="5508625" cy="155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В примере ниже на холсте в 500x200px мы нарисовали прямоугольник 400x200px с заливкой зеленого цвета, сместившись на 50px вправо и на 50px вниз.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Методы для рисования прямоугольника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r>
              <a:rPr lang="ru-RU" altLang="en-US"/>
              <a:t>Для </a:t>
            </a:r>
            <a:r>
              <a:rPr lang="en-US" altLang="en-US"/>
              <a:t>создания прямоугольника без заливки, только с контуром, используется метод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context.strokeRect(x, y, width, height)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altLang="en-US"/>
              <a:t>чтобы стереть прямоугольник, нужен метод: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context.clearRect(x, y, width, height)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500" y="2017395"/>
            <a:ext cx="4645025" cy="4364990"/>
          </a:xfrm>
        </p:spPr>
        <p:txBody>
          <a:bodyPr>
            <a:normAutofit fontScale="80000"/>
          </a:bodyPr>
          <a:p>
            <a:r>
              <a:rPr lang="en-US" altLang="en-US"/>
              <a:t>чтобы стереть все, что нарисовано на вашем холсте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context.clearRect(0, 0, canvas.width, canvas.height);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SzTx/>
            </a:pPr>
            <a:r>
              <a:rPr lang="en-US" altLang="en-US"/>
              <a:t>для управления толщиной линии (контура) используется свойство lineWidth (по умолчанию равно 1px):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context.lineWidth = 5;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SzTx/>
            </a:pPr>
            <a:r>
              <a:rPr lang="en-US" altLang="en-US"/>
              <a:t>цвет заливки и обводки в canvas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context.fillStyle = "#900";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context.strokeStyle = "#f00";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Прямоугольники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645025" cy="4046220"/>
          </a:xfrm>
        </p:spPr>
        <p:txBody>
          <a:bodyPr>
            <a:normAutofit fontScale="45000"/>
          </a:bodyPr>
          <a:p>
            <a:pPr marL="0" indent="0">
              <a:buNone/>
            </a:pPr>
            <a:r>
              <a:rPr lang="en-US" altLang="en-US" sz="3275"/>
              <a:t>&lt;canvas width="600" height="300" id="rect2" class="grid"&gt;&lt;/canvas&gt;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var canvas = document.getElementById('rect2');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var context = canvas.getContext('2d');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 context.fillRect(50, 50, 200, 200);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context.clearRect(100, 100, 100, 100);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context.strokeRect(110, 110, 80, 80);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 sz="3275"/>
              <a:t> context.strokeRect(60, 60, 180, 180);</a:t>
            </a:r>
            <a:endParaRPr lang="en-US" altLang="en-US" sz="3275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context.fillStyle = "#900";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context.strokeStyle = "#f00";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context.fillRect(300, 50, 200, 200);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context.clearRect(350, 100, 100, 100);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context.strokeRect(360, 110, 80, 80);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context.strokeRect(310, 60, 180, 180);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953375" y="175895"/>
            <a:ext cx="3748405" cy="1760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Методы для создания Линий (</a:t>
            </a:r>
            <a:r>
              <a:rPr lang="en-US" altLang="en-US"/>
              <a:t>PATH)</a:t>
            </a:r>
            <a:r>
              <a:rPr lang="ru-RU" altLang="en-US"/>
              <a:t>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перемещ</a:t>
            </a:r>
            <a:r>
              <a:rPr lang="ru-RU" altLang="en-US"/>
              <a:t>ение</a:t>
            </a:r>
            <a:r>
              <a:rPr lang="en-US" altLang="en-US"/>
              <a:t> в точку с координатами x, y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context.moveTo(x,y);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ru-RU" altLang="en-US"/>
              <a:t>Линия в точку с координатами: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context.lineTo(x1,y1);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context.lineTo(x2,y2);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...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context.lineTo(xn,yn);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500" y="2017395"/>
            <a:ext cx="4645025" cy="3994785"/>
          </a:xfrm>
        </p:spPr>
        <p:txBody>
          <a:bodyPr>
            <a:normAutofit lnSpcReduction="20000"/>
          </a:bodyPr>
          <a:p>
            <a:r>
              <a:rPr lang="en-US" altLang="en-US"/>
              <a:t>Для создания контура</a:t>
            </a:r>
            <a:r>
              <a:rPr lang="ru-RU" altLang="en-US"/>
              <a:t> сначала: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context.beginPath()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ru-RU" altLang="en-US"/>
              <a:t>Создание обводки: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context.stroke()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ru-RU" altLang="en-US"/>
              <a:t>З</a:t>
            </a:r>
            <a:r>
              <a:rPr lang="en-US" altLang="en-US"/>
              <a:t>аливк</a:t>
            </a:r>
            <a:r>
              <a:rPr lang="ru-RU" altLang="en-US"/>
              <a:t>а</a:t>
            </a:r>
            <a:r>
              <a:rPr lang="en-US" altLang="en-US"/>
              <a:t> фигуры: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context.fill()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altLang="en-US"/>
              <a:t>Закрываем контур</a:t>
            </a:r>
            <a:r>
              <a:rPr lang="ru-RU" altLang="en-US"/>
              <a:t>: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context.closePath()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229995" y="6137275"/>
            <a:ext cx="10044430" cy="677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фигур  с заливкой закрывать контур (путь) необязательно - это сделает заливка по кратчайшему расстоянию между двумя соседними точками. Для фигуры с одной обводкой нужно либо закрыть контур (context.closePath()), либо дорисовать контур до начальной точкой методом lineTo(xstart, ystart).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свойства и методы для контуров</a:t>
            </a:r>
            <a:endParaRPr lang="ru-RU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  <p:custDataLst>
              <p:tags r:id="rId1"/>
            </p:custDataLst>
          </p:nvPr>
        </p:nvGraphicFramePr>
        <p:xfrm>
          <a:off x="1447165" y="2011045"/>
          <a:ext cx="9608820" cy="2682240"/>
        </p:xfrm>
        <a:graphic>
          <a:graphicData uri="http://schemas.openxmlformats.org/drawingml/2006/table">
            <a:tbl>
              <a:tblPr/>
              <a:tblGrid>
                <a:gridCol w="3202940"/>
                <a:gridCol w="3202940"/>
                <a:gridCol w="3202940"/>
              </a:tblGrid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Свойство/Метод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Значение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Назначение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lineCap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"butt"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|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"round"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|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"square"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Устанавливает внешний вид концов линий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lineJoin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"bevel"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|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"round"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|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"miter"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 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(по умолчанию)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Устанавливает внешний вид углов, которые получаются при соединении линий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miterLimit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Положительное число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Определяет максимальную длину среза линий в месте соединения. Если текущая длина среза будет превышать заданное значение, то угол будет отображаться как при значении "bevel" свойства lineJoin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setLineDash(массив)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Массив чисел [линия, пропуск]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Определяет размер линий и пустых мест в пунктирной линии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getLineDash()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возвращает массив чисел [линия, пропуск]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Возвращает массив чисел для линий и пустых мест в пунктирной линии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lineDashOffset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Число с плавающей запятой (0.0 по умолчанию)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ontserrat" panose="00000500000000000000"/>
                          <a:ea typeface="Montserrat" panose="00000500000000000000"/>
                        </a:rPr>
                        <a:t>Указывает, где следует начинать тире массива в строке.</a:t>
                      </a:r>
                      <a:endParaRPr sz="1100" b="0" i="0">
                        <a:solidFill>
                          <a:srgbClr val="000000"/>
                        </a:solidFill>
                        <a:latin typeface="Montserrat" panose="00000500000000000000"/>
                        <a:ea typeface="Montserrat" panose="00000500000000000000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38190" y="4669790"/>
            <a:ext cx="4645660" cy="19513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640205" y="5461635"/>
            <a:ext cx="2999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свойство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lineJoin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Код для создания </a:t>
            </a:r>
            <a:r>
              <a:rPr lang="en-US" altLang="en-US"/>
              <a:t>"марширующих муравьев"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4561205" cy="3689350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/>
              <a:t>const ants = document.getElementById('marching_ants');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const myCtx = ants.getContext('2d');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let offset = 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myCtx.lineWidth = 3;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const drawAnts = () =&gt;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myCtx.clearRect(0, 0, canvas.width, canvas.height);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myCtx.setLineDash([6, 3]);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myCtx.lineDashOffset = -offset;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myCtx.strokeRect(50, 50, 150, 150);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573520" y="2028825"/>
            <a:ext cx="42595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const marchingAnts = () =&gt;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offset++;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if (offset &gt; 18)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offset = 0;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drawAnts();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setTimeout(marchingAnts, 20);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marchingAnts();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Рисуем дуги вместо круга в canvas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9603105" cy="40690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ru-RU" altLang="en-US"/>
              <a:t>Вместо круга в </a:t>
            </a:r>
            <a:r>
              <a:rPr lang="en-US" altLang="ru-RU"/>
              <a:t>canvas </a:t>
            </a:r>
            <a:r>
              <a:rPr lang="en-US" altLang="en-US"/>
              <a:t>оздание дуги (arc), которая имеет центр с координатами в x,y, начало, заданное углом startAngle, и конец, заданный углом endAngle (оба угла задаются в радианах), а также логический параметр true|false, который говорит о том, создается ли дуга против или по ходу часовой стрелки (по умолчанию используется параметр по ходу часовой стрелки):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arc(x,y, radius, startAngle, endAngle, anticlockwise);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/>
              <a:t>Д</a:t>
            </a:r>
            <a:r>
              <a:rPr lang="en-US" altLang="en-US"/>
              <a:t>ля arc используются радианы</a:t>
            </a:r>
            <a:r>
              <a:rPr lang="ru-RU" altLang="en-US"/>
              <a:t>,</a:t>
            </a:r>
            <a:r>
              <a:rPr lang="en-US" altLang="en-US"/>
              <a:t> </a:t>
            </a:r>
            <a:r>
              <a:rPr lang="ru-RU" altLang="en-US"/>
              <a:t>поэтому надо </a:t>
            </a:r>
            <a:r>
              <a:rPr lang="en-US" altLang="en-US"/>
              <a:t> перев</a:t>
            </a:r>
            <a:r>
              <a:rPr lang="ru-RU" altLang="en-US"/>
              <a:t>ести</a:t>
            </a:r>
            <a:r>
              <a:rPr lang="en-US" altLang="en-US"/>
              <a:t> градус</a:t>
            </a:r>
            <a:r>
              <a:rPr lang="ru-RU" altLang="en-US"/>
              <a:t>ы</a:t>
            </a:r>
            <a:r>
              <a:rPr lang="en-US" altLang="en-US"/>
              <a:t> в радианы: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let radians = (Math.PI/180)*degrees.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algn="l">
              <a:buSzTx/>
              <a:buNone/>
            </a:pPr>
            <a:r>
              <a:rPr lang="en-US" altLang="en-US"/>
              <a:t>Можно нарисовать дугу с заданными контрольными точками и радиусом</a:t>
            </a:r>
            <a:r>
              <a:rPr lang="ru-RU" altLang="en-US"/>
              <a:t>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context.arcTo(x1, y1, x2, y2, radius);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Рисование </a:t>
            </a:r>
            <a:r>
              <a:rPr lang="ru-RU"/>
              <a:t>2х кругов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var context = canvas.getContext('2d');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context.fillStyle = "blue";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context.arc(100, 100, 50, 0, 2 * Math.PI, false);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context.strokeStyle = "#7278ff";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context.beginPath();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context.arc(300, 150, 100, 0, 2 * Math.PI);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context.stroke();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3500" y="2576195"/>
            <a:ext cx="4645660" cy="2322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Рисование </a:t>
            </a:r>
            <a:r>
              <a:rPr lang="ru-RU"/>
              <a:t>Дуг с заливкой и без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var canvas = document.getElementById('myArc');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var context = canvas.getContext('2d');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context.fillStyle = "red";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context.lineWidth = 3;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context.arc(100, 100, 100, 0, 2 * Math.PI/3, false);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context.fill();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context.strokeStyle = "#7278ff";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context.beginPath();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context.arc(350, 100, 100, 0, 2 * Math.PI/3, true);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context.stroke();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62090" y="2545080"/>
            <a:ext cx="47625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Анимация 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645025" cy="344868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ru-RU" altLang="en-US"/>
              <a:t>В основном для создания анимации в </a:t>
            </a:r>
            <a:r>
              <a:rPr lang="en-US" altLang="ru-RU"/>
              <a:t>canvas </a:t>
            </a:r>
            <a:r>
              <a:rPr lang="ru-RU" altLang="en-US"/>
              <a:t>используют метод 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var requestID = window.requestAnimationFrame(callback);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callback</a:t>
            </a:r>
            <a:r>
              <a:rPr lang="en-US" altLang="en-US"/>
              <a:t>: функци</a:t>
            </a:r>
            <a:r>
              <a:rPr lang="ru-RU" altLang="en-US"/>
              <a:t>я</a:t>
            </a:r>
            <a:r>
              <a:rPr lang="en-US" altLang="en-US"/>
              <a:t>, котор</a:t>
            </a:r>
            <a:r>
              <a:rPr lang="ru-RU" altLang="en-US"/>
              <a:t>ая</a:t>
            </a:r>
            <a:r>
              <a:rPr lang="en-US" altLang="en-US"/>
              <a:t> выполняется перед следующим рендерингом.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requestID</a:t>
            </a:r>
            <a:r>
              <a:rPr lang="en-US" altLang="en-US"/>
              <a:t>: Возвращаемое значение, которое требуется, например, для </a:t>
            </a:r>
            <a:r>
              <a:rPr lang="ru-RU" altLang="en-US"/>
              <a:t>метода </a:t>
            </a:r>
            <a:r>
              <a:rPr lang="en-US" altLang="en-US"/>
              <a:t>cancelAnimationframe(requestID)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500" y="2017395"/>
            <a:ext cx="4645025" cy="344170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 i="1"/>
              <a:t>Примечание</a:t>
            </a:r>
            <a:r>
              <a:rPr lang="en-US" altLang="en-US"/>
              <a:t>: Ваш callback метод сам должен вызвать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requestAnimationFrame()</a:t>
            </a:r>
            <a:r>
              <a:rPr lang="en-US" altLang="en-US"/>
              <a:t> иначе анимация остановится.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Обычно запросы происходят </a:t>
            </a:r>
            <a:r>
              <a:rPr lang="en-US" altLang="en-US" b="1"/>
              <a:t>60 раз в секунду,</a:t>
            </a:r>
            <a:r>
              <a:rPr lang="en-US" altLang="en-US"/>
              <a:t> но чаще всего совпадают с частотой обновления экрана</a:t>
            </a:r>
            <a:endParaRPr lang="en-US" altLang="en-US"/>
          </a:p>
          <a:p>
            <a:pPr marL="0" indent="0">
              <a:buNone/>
            </a:pPr>
            <a:r>
              <a:rPr lang="uk-UA" altLang="ru-RU" b="1"/>
              <a:t>О</a:t>
            </a:r>
            <a:r>
              <a:rPr lang="ru-RU" altLang="en-US" b="1"/>
              <a:t>тмена анимации</a:t>
            </a:r>
            <a:r>
              <a:rPr lang="ru-RU" altLang="en-US"/>
              <a:t> выполняется методом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cancelAnimationframe(requestID)</a:t>
            </a:r>
            <a:endParaRPr lang="en-US" altLang="en-US"/>
          </a:p>
          <a:p>
            <a:pPr marL="0" indent="0">
              <a:buNone/>
            </a:pPr>
            <a:endParaRPr lang="ru-RU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/>
              <a:t>Снег из кругов в </a:t>
            </a:r>
            <a:r>
              <a:rPr lang="en-US" altLang="uk-UA"/>
              <a:t>Canvas </a:t>
            </a:r>
            <a:endParaRPr lang="en-US" altLang="uk-U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645025" cy="46094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let canvas = document.getElementById('blocks'),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 = canvas.getContext('2d'),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cw = canvas.width, ch = canvas.height,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loopId;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806440" y="2102485"/>
            <a:ext cx="6096000" cy="431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sz="1600">
                <a:sym typeface="+mn-ea"/>
              </a:rPr>
              <a:t>class Circle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constructor(x = 0, y = 0, radius = 5, fillColor = '#cde')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this.x = x;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this.y = y;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this.radius = radius;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this.height = radius;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this.fillColor = fillColor;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this.velocityVal = Math.round(Math.random() * 5 + .5);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}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draw(context)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context.beginPath();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context.fillStyle = this.fillColor;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context.arc(this.x, this.y, this.radius, 0, Math.PI * 2);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context.fill();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}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/>
              <a:t>Снег из кругов в </a:t>
            </a:r>
            <a:r>
              <a:rPr lang="en-US" altLang="uk-UA"/>
              <a:t>Canvas - 2</a:t>
            </a:r>
            <a:endParaRPr lang="en-US" altLang="uk-U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645025" cy="46094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780"/>
              <a:t>get velocity() { return this.velocityVal; 	}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set velocity(velocityVal) {	this.velocity = velocityVal || this.velocityVal; 	}</a:t>
            </a:r>
            <a:endParaRPr lang="en-US" altLang="en-US" sz="1780"/>
          </a:p>
          <a:p>
            <a:pPr marL="0" indent="0">
              <a:buNone/>
            </a:pP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animate(context, canvasHeight) {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this.y &gt; this.height + canvasHeight ? this.y = -this.height :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this.y += this.velocity;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this.draw(context);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} }</a:t>
            </a:r>
            <a:endParaRPr lang="en-US" altLang="en-US" sz="1780"/>
          </a:p>
        </p:txBody>
      </p:sp>
      <p:sp>
        <p:nvSpPr>
          <p:cNvPr id="5" name="Text Box 4"/>
          <p:cNvSpPr txBox="1"/>
          <p:nvPr/>
        </p:nvSpPr>
        <p:spPr>
          <a:xfrm>
            <a:off x="5806440" y="2102485"/>
            <a:ext cx="6096000" cy="431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sz="1600">
                <a:sym typeface="+mn-ea"/>
              </a:rPr>
              <a:t>let Circle1 = new Circle(),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Circle2 = new Circle(20, 30, 10, 'blue');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console.log(Circle1, Circle2);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Circle1.draw(ctx);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Circle2.draw(ctx);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let snowArray = [];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let randomSize = (size) =&gt; Math.round(Math.random() * size + 1);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function hexToRGB(hex, alpha)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let r = parseInt(hex.slice(1, 3), 16),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g = parseInt(hex.slice(3, 5), 16),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b = parseInt(hex.slice(5, 7), 16);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return alpha ? "rgba(" + r + ", " + g + ", " + b + ", " + alpha + ")"  :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 "rgb(" + r + ", " + g + ", " + b + ")";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}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/>
              <a:t>Снег из кругов в </a:t>
            </a:r>
            <a:r>
              <a:rPr lang="en-US" altLang="uk-UA"/>
              <a:t>Canvas - 3 </a:t>
            </a:r>
            <a:endParaRPr lang="en-US" altLang="uk-U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645025" cy="46094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780"/>
              <a:t>let roundAlpha = () =&gt; Math.ceil((Math.random() + .1) * 10) / 10;</a:t>
            </a:r>
            <a:endParaRPr lang="en-US" altLang="en-US" sz="1780"/>
          </a:p>
          <a:p>
            <a:pPr marL="0" indent="0">
              <a:buNone/>
            </a:pP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for (let i = 0; i &lt; 50; i++) { 'red');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  snowArray.push(new Circle(randomSize(cw), randomSize(ch), randomSize(10), hexToRGB('#ffffff', roundAlpha() )));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   snowArray[i].draw(ctx);</a:t>
            </a:r>
            <a:endParaRPr lang="en-US" altLang="en-US" sz="1780"/>
          </a:p>
          <a:p>
            <a:pPr marL="0" indent="0">
              <a:buNone/>
            </a:pPr>
            <a:r>
              <a:rPr lang="en-US" altLang="en-US" sz="1780"/>
              <a:t>}</a:t>
            </a:r>
            <a:endParaRPr lang="en-US" altLang="en-US" sz="1780"/>
          </a:p>
        </p:txBody>
      </p:sp>
      <p:sp>
        <p:nvSpPr>
          <p:cNvPr id="5" name="Text Box 4"/>
          <p:cNvSpPr txBox="1"/>
          <p:nvPr/>
        </p:nvSpPr>
        <p:spPr>
          <a:xfrm>
            <a:off x="5806440" y="2102485"/>
            <a:ext cx="6096000" cy="4316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sz="1600">
                <a:sym typeface="+mn-ea"/>
              </a:rPr>
              <a:t>function loop()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loopId = window.requestAnimationFrame(loop);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ctx.clearRect(0, 0, cw, ch);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for (snow of snowArray)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	snow.animate(ctx, ch);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}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}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window.onload = canvas.ondblclick = loop;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canvas.onclick = function() {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	window.cancelAnimationFrame(loopId)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r>
              <a:rPr lang="en-US" altLang="en-US" sz="1600">
                <a:sym typeface="+mn-ea"/>
              </a:rPr>
              <a:t>}</a:t>
            </a:r>
            <a:endParaRPr lang="en-US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>
                <a:sym typeface="+mn-ea"/>
              </a:rPr>
              <a:t>текст в </a:t>
            </a:r>
            <a:r>
              <a:rPr lang="en-US" altLang="ru-RU">
                <a:sym typeface="+mn-ea"/>
              </a:rPr>
              <a:t>canvas 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Использование текста в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r>
              <a:rPr lang="ru-RU" altLang="en-US"/>
              <a:t>указываем свойства текста: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context.font = '20px Arial';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.fillStyle = 'black';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ru-RU" altLang="en-US"/>
              <a:t>добавляем текст </a:t>
            </a:r>
            <a:r>
              <a:rPr lang="en-US" altLang="en-US"/>
              <a:t>метод</a:t>
            </a:r>
            <a:r>
              <a:rPr lang="ru-RU" altLang="en-US"/>
              <a:t>ом</a:t>
            </a:r>
            <a:r>
              <a:rPr lang="en-US" altLang="en-US"/>
              <a:t> fillText():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context.fillText(‘Some text’, x, y)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let canvas = document.getElementById('myCanvas');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let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= canvas.getContext('2d');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.font = '20px Arial';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.fillStyle = 'black';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.fillText('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</a:rPr>
              <a:t>Это текст в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Canvas!', 50, 100);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Выравнивание текста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20000"/>
          </a:bodyPr>
          <a:p>
            <a:r>
              <a:rPr lang="ru-RU" altLang="en-US"/>
              <a:t>свойства текста в </a:t>
            </a:r>
            <a:r>
              <a:rPr lang="en-US" altLang="ru-RU"/>
              <a:t>canvas </a:t>
            </a:r>
            <a:r>
              <a:rPr lang="ru-RU" altLang="en-US"/>
              <a:t>совпадают с теми, что есть в </a:t>
            </a:r>
            <a:r>
              <a:rPr lang="en-US" altLang="ru-RU"/>
              <a:t>CSS: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.textAlign = 'center';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.textBaseline = 'middle';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.fillText('Центр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</a:rPr>
              <a:t>альное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</a:rPr>
              <a:t>размещение текста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', canvas.width / 2, canvas.height / 2);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/>
          </a:bodyPr>
          <a:p>
            <a:r>
              <a:rPr lang="ru-RU" altLang="en-US"/>
              <a:t>можно развернуть </a:t>
            </a:r>
            <a:r>
              <a:rPr lang="en-US" altLang="ru-RU"/>
              <a:t>canvas, </a:t>
            </a:r>
            <a:r>
              <a:rPr lang="ru-RU" altLang="en-US"/>
              <a:t>и вместе с ним и текст с помощью метода </a:t>
            </a:r>
            <a:r>
              <a:rPr lang="en-US" altLang="ru-RU" b="1"/>
              <a:t>rotate():</a:t>
            </a:r>
            <a:endParaRPr lang="en-US" altLang="ru-RU" b="1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.rotate(0.2);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context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.fillText('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</a:rPr>
              <a:t>Перевернутый т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е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</a:rPr>
              <a:t>кст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', canvas.width / 2, canvas.height / 2);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ru-RU" altLang="en-US">
                <a:sym typeface="+mn-ea"/>
              </a:rPr>
              <a:t>Использовать метод </a:t>
            </a:r>
            <a:r>
              <a:rPr lang="ru-RU">
                <a:sym typeface="+mn-ea"/>
              </a:rPr>
              <a:t>нужно </a:t>
            </a:r>
            <a:r>
              <a:rPr lang="ru-RU" b="1">
                <a:sym typeface="+mn-ea"/>
              </a:rPr>
              <a:t>ДО </a:t>
            </a:r>
            <a:r>
              <a:rPr lang="ru-RU">
                <a:sym typeface="+mn-ea"/>
              </a:rPr>
              <a:t>вывода текста методом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fillText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()</a:t>
            </a:r>
            <a:endParaRPr lang="ru-RU" altLang="en-US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ym typeface="+mn-ea"/>
              </a:rPr>
              <a:t>Свойство </a:t>
            </a:r>
            <a:r>
              <a:rPr lang="en-US" altLang="en-US">
                <a:sym typeface="+mn-ea"/>
              </a:rPr>
              <a:t>textBaseline 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en-US"/>
              <a:t>context.textBaseline - свойство Canvas, </a:t>
            </a:r>
            <a:r>
              <a:rPr lang="ru-RU" altLang="en-US"/>
              <a:t>определяющее</a:t>
            </a:r>
            <a:r>
              <a:rPr lang="en-US" altLang="en-US"/>
              <a:t>текущую базовую строку при рисовании текста.</a:t>
            </a:r>
            <a:r>
              <a:rPr lang="ru-RU" altLang="en-US"/>
              <a:t> Бывает: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ctx.textBaseline = "top" || "hanging" || "middle" || "alphabetic" || "ideographic" || "bottom";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872615" y="2011045"/>
            <a:ext cx="3793490" cy="34486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Свойство context.textAlign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Свойство context.textAlign в Canvas определяет выравнивание текста, использованное при прорисовке.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Возможные значения: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context.textAlign = "left" || "right" || "center" || "start" || "end";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Следует помнить, что выравнивание основывается на значении x метода fillText(). 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Так что, если значение textAlign равно "center", то текст будет прорисован в x - (width / 2).</a:t>
            </a:r>
            <a:endParaRPr lang="en-US" altLang="en-US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Измерение ширины текста 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3646170" cy="3839845"/>
          </a:xfrm>
        </p:spPr>
        <p:txBody>
          <a:bodyPr>
            <a:normAutofit lnSpcReduction="20000"/>
          </a:bodyPr>
          <a:p>
            <a:r>
              <a:rPr lang="ru-RU" altLang="en-US"/>
              <a:t>текст обычно размещается на линии с указанными координатами</a:t>
            </a:r>
            <a:endParaRPr lang="ru-RU" altLang="en-US"/>
          </a:p>
          <a:p>
            <a:r>
              <a:rPr lang="ru-RU" altLang="en-US"/>
              <a:t>чтобы его измерить, используется метод </a:t>
            </a:r>
            <a:r>
              <a:rPr lang="en-US" altLang="en-US" b="1">
                <a:sym typeface="+mn-ea"/>
              </a:rPr>
              <a:t>context.measureText</a:t>
            </a:r>
            <a:r>
              <a:rPr lang="ru-RU" altLang="en-US" b="1">
                <a:sym typeface="+mn-ea"/>
              </a:rPr>
              <a:t>()</a:t>
            </a:r>
            <a:r>
              <a:rPr lang="ru-RU" altLang="en-US">
                <a:sym typeface="+mn-ea"/>
              </a:rPr>
              <a:t> и</a:t>
            </a:r>
            <a:r>
              <a:rPr lang="ru-RU" altLang="en-US"/>
              <a:t> свойство </a:t>
            </a:r>
            <a:r>
              <a:rPr lang="en-US" altLang="ru-RU" b="1"/>
              <a:t>width </a:t>
            </a:r>
            <a:endParaRPr 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context.measureText('Canvas text').width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 algn="l">
              <a:buSzTx/>
              <a:buNone/>
            </a:pPr>
            <a:r>
              <a:rPr lang="ru-RU" altLang="en-US" i="1"/>
              <a:t>Например, для текста с рамкой</a:t>
            </a:r>
            <a:endParaRPr lang="ru-RU" altLang="en-US" i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91125" y="2017395"/>
            <a:ext cx="6486525" cy="4570730"/>
          </a:xfrm>
        </p:spPr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const canvas = document.getElementById('myCanvas')</a:t>
            </a:r>
            <a:r>
              <a:rPr lang="ru-RU" altLang="en-US"/>
              <a:t>, </a:t>
            </a:r>
            <a:r>
              <a:rPr lang="en-US" altLang="en-US"/>
              <a:t>ctx = canvas.getContext('2d')</a:t>
            </a:r>
            <a:r>
              <a:rPr lang="ru-RU" altLang="en-US"/>
              <a:t>, </a:t>
            </a:r>
            <a:r>
              <a:rPr lang="en-US" altLang="en-US"/>
              <a:t> text = 'Привет, мир!'</a:t>
            </a:r>
            <a:r>
              <a:rPr lang="ru-RU" altLang="en-US"/>
              <a:t>, </a:t>
            </a:r>
            <a:r>
              <a:rPr lang="en-US" altLang="en-US"/>
              <a:t> x = 50</a:t>
            </a:r>
            <a:r>
              <a:rPr lang="ru-RU" altLang="en-US"/>
              <a:t>, </a:t>
            </a:r>
            <a:r>
              <a:rPr lang="en-US" altLang="en-US"/>
              <a:t>const y = 50</a:t>
            </a:r>
            <a:r>
              <a:rPr lang="ru-RU" altLang="en-US"/>
              <a:t>, </a:t>
            </a:r>
            <a:r>
              <a:rPr lang="en-US" altLang="en-US"/>
              <a:t> fontSize = 20;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ctx.font = fontSize + 'px sans-serif';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const textWidth = ctx.measureText(text).width;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const textHeight = fontSize;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ctx.fillText(text, x, y);</a:t>
            </a:r>
            <a:r>
              <a:rPr lang="ru-RU" altLang="en-US"/>
              <a:t> </a:t>
            </a:r>
            <a:r>
              <a:rPr lang="en-US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// Рисуем текст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ctx.strokeStyle = 'black';</a:t>
            </a:r>
            <a:r>
              <a:rPr lang="ru-RU" alt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// Рисуем рамку</a:t>
            </a:r>
            <a:endParaRPr lang="en-US" altLang="en-US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/>
              <a:t>ctx.lineWidth = 2;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ctx.strokeRect(x - 5, y - fontSize - 5, textWidth + 10, textHeight + 10);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Создание </a:t>
            </a:r>
            <a:r>
              <a:rPr lang="en-US" altLang="en-US">
                <a:sym typeface="+mn-ea"/>
              </a:rPr>
              <a:t>текста</a:t>
            </a:r>
            <a:r>
              <a:rPr lang="ru-RU" altLang="en-US">
                <a:sym typeface="+mn-ea"/>
              </a:rPr>
              <a:t> в виде </a:t>
            </a:r>
            <a:r>
              <a:rPr lang="en-US" altLang="en-US"/>
              <a:t>обводки </a:t>
            </a:r>
            <a:r>
              <a:rPr lang="ru-RU" altLang="en-US"/>
              <a:t>(Контура)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ru-RU" altLang="en-US"/>
              <a:t>Т</a:t>
            </a:r>
            <a:r>
              <a:rPr lang="en-US" altLang="en-US"/>
              <a:t>екст</a:t>
            </a:r>
            <a:r>
              <a:rPr lang="ru-RU" altLang="en-US"/>
              <a:t> в виде</a:t>
            </a:r>
            <a:r>
              <a:rPr lang="en-US" altLang="en-US"/>
              <a:t> обводки</a:t>
            </a:r>
            <a:r>
              <a:rPr lang="ru-RU" altLang="en-US"/>
              <a:t> (контура)</a:t>
            </a:r>
            <a:r>
              <a:rPr lang="en-US" altLang="en-US"/>
              <a:t> </a:t>
            </a:r>
            <a:r>
              <a:rPr lang="ru-RU" altLang="en-US"/>
              <a:t>создается с помощью </a:t>
            </a:r>
            <a:r>
              <a:rPr lang="en-US" altLang="en-US">
                <a:sym typeface="+mn-ea"/>
              </a:rPr>
              <a:t>свойств</a:t>
            </a:r>
            <a:r>
              <a:rPr lang="ru-RU" altLang="en-US">
                <a:sym typeface="+mn-ea"/>
              </a:rPr>
              <a:t>а</a:t>
            </a:r>
            <a:r>
              <a:rPr lang="en-US" altLang="en-US">
                <a:sym typeface="+mn-ea"/>
              </a:rPr>
              <a:t> strokeStyle</a:t>
            </a:r>
            <a:r>
              <a:rPr lang="ru-RU" altLang="en-US">
                <a:sym typeface="+mn-ea"/>
              </a:rPr>
              <a:t>  и метода</a:t>
            </a:r>
            <a:r>
              <a:rPr lang="en-US" altLang="en-US"/>
              <a:t> strokeText(‘text’, x, y):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context.strokeStyle = 'blue';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context.strokeText('Текст в виде контура', 150, 100);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015480" y="2017395"/>
            <a:ext cx="34417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Тень для текста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Тень определяется несколькими свойствами:</a:t>
            </a:r>
            <a:endParaRPr lang="ru-RU" altLang="en-US"/>
          </a:p>
          <a:p>
            <a:r>
              <a:rPr lang="en-US" altLang="en-US"/>
              <a:t>ctx.shadowColor = '#808080';</a:t>
            </a:r>
            <a:endParaRPr lang="en-US" altLang="en-US"/>
          </a:p>
          <a:p>
            <a:r>
              <a:rPr lang="en-US" altLang="en-US"/>
              <a:t>ctx.shadowColor = '#808080';</a:t>
            </a:r>
            <a:endParaRPr lang="en-US" altLang="en-US"/>
          </a:p>
          <a:p>
            <a:r>
              <a:rPr lang="en-US" altLang="en-US"/>
              <a:t>ctx.shadowBlur = 4;</a:t>
            </a:r>
            <a:endParaRPr lang="en-US" altLang="en-US"/>
          </a:p>
          <a:p>
            <a:r>
              <a:rPr lang="en-US" altLang="en-US"/>
              <a:t>ctx.shadowOffsetX = 2;</a:t>
            </a:r>
            <a:endParaRPr lang="en-US" altLang="en-US"/>
          </a:p>
          <a:p>
            <a:r>
              <a:rPr lang="en-US" altLang="en-US"/>
              <a:t>ctx.shadowOffsetY = 5;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Сначала описываются свойства тени, а затем уже отрисовывается текст:</a:t>
            </a:r>
            <a:endParaRPr lang="ru-RU" altLang="en-US"/>
          </a:p>
          <a:p>
            <a:r>
              <a:rPr lang="en-US" altLang="en-US"/>
              <a:t>ctx.fillText('Shadow Text Example', 100, 300);</a:t>
            </a:r>
            <a:endParaRPr lang="en-US" altLang="en-US"/>
          </a:p>
          <a:p>
            <a:endParaRPr lang="en-US" altLang="en-US"/>
          </a:p>
          <a:p>
            <a:r>
              <a:rPr lang="ru-RU" altLang="en-US">
                <a:hlinkClick r:id="rId1" tooltip="" action="ppaction://hlinkfile"/>
              </a:rPr>
              <a:t>Ссылка на </a:t>
            </a:r>
            <a:r>
              <a:rPr lang="en-US" altLang="ru-RU">
                <a:hlinkClick r:id="rId1" tooltip="" action="ppaction://hlinkfile"/>
              </a:rPr>
              <a:t>MDN</a:t>
            </a:r>
            <a:r>
              <a:rPr lang="en-US" altLang="ru-RU"/>
              <a:t> </a:t>
            </a:r>
            <a:endParaRPr lang="en-US" alt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ПРИМЕР: текстовые Часы в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let canvas = document.getElementById('myCanvas'), cw = canvas.width, ch =  canvas.height, cw_half =  cw/2, ch_half = ch/2;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let context= canvas.getContext('2d');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context.font = '40px Montserrat, sans-serif';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context.fillStyle = 'grey';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context.textAlign = 'center';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context.textBaseline = 'middle';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function clockCanvas() {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  let now = new Date().toLocaleTimeString();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  context.clearRect(0, 0, cw, ch);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  context.fillText(now, cw_half, ch_half);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  requestAnimationFrame(clockCanvas);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clockCanvas();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>
                <a:sym typeface="+mn-ea"/>
              </a:rPr>
              <a:t>изображения </a:t>
            </a:r>
            <a:r>
              <a:rPr lang="ru-RU" altLang="en-US">
                <a:sym typeface="+mn-ea"/>
              </a:rPr>
              <a:t>в </a:t>
            </a:r>
            <a:r>
              <a:rPr lang="en-US" altLang="ru-RU">
                <a:sym typeface="+mn-ea"/>
              </a:rPr>
              <a:t>canvas 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изображения в canvas</a:t>
            </a:r>
            <a:r>
              <a:rPr lang="ru-RU" altLang="en-US"/>
              <a:t>. </a:t>
            </a:r>
            <a:r>
              <a:rPr lang="en-US" altLang="en-US"/>
              <a:t>Метод drawImage()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4211320" cy="3448685"/>
          </a:xfrm>
        </p:spPr>
        <p:txBody>
          <a:bodyPr/>
          <a:p>
            <a:r>
              <a:rPr lang="ru-RU" altLang="en-US"/>
              <a:t>Синтаксис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drawImage(image, dx, dy)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drawImage(image, dx, dy, dWidth, dHeight)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drawImage(image, sx, sy, sWidth, sHeight, dx, dy, dWidth, dHeight)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8190" y="2017395"/>
            <a:ext cx="5220335" cy="4060825"/>
          </a:xfrm>
        </p:spPr>
        <p:txBody>
          <a:bodyPr>
            <a:normAutofit fontScale="60000"/>
          </a:bodyPr>
          <a:p>
            <a:r>
              <a:rPr lang="en-US" altLang="en-US"/>
              <a:t>image - это элемент для отображения в контексте. Функция принимает любой источник изображения, пригодный для отображения на холсте.</a:t>
            </a:r>
            <a:endParaRPr lang="en-US" altLang="en-US"/>
          </a:p>
          <a:p>
            <a:r>
              <a:rPr lang="en-US" altLang="en-US"/>
              <a:t>dx - координата по оси Х, обозначающая стартовую точку холста-приёмника, в которую будет помещён верхний левый угол исходного image.</a:t>
            </a:r>
            <a:endParaRPr lang="en-US" altLang="en-US"/>
          </a:p>
          <a:p>
            <a:r>
              <a:rPr lang="en-US" altLang="en-US"/>
              <a:t>dy - координата по оси Y, обозначающая стартовую точку холста-приёмника, в которую будет помещён верхний левый угол исходного image.</a:t>
            </a:r>
            <a:endParaRPr lang="en-US" altLang="en-US"/>
          </a:p>
          <a:p>
            <a:r>
              <a:rPr lang="en-US" altLang="en-US"/>
              <a:t>dWidth - ширина изображения, полученного из исходного image. Эта опция позволяет масштабировать изображение по ширине. Если опция не задана, изображение не будет масштабировано.</a:t>
            </a:r>
            <a:endParaRPr lang="en-US" altLang="en-US"/>
          </a:p>
          <a:p>
            <a:r>
              <a:rPr lang="en-US" altLang="en-US"/>
              <a:t>dHeight - высота изображения, полученного из исходного image. Эта опция позволяет масштабировать изображение по высоте. Если опция не задана, изображение не будет масштабировано.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изображения в canvas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43675" y="2011045"/>
            <a:ext cx="5219065" cy="516128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sz="half"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sx - координата по оси X верхнего левого угла фрагмента, который будет вырезан из изображения-источника и помещён в контекст-приёмник.</a:t>
            </a:r>
            <a:endParaRPr lang="en-US" altLang="en-US"/>
          </a:p>
          <a:p>
            <a:r>
              <a:rPr lang="en-US" altLang="en-US"/>
              <a:t>sy - координата по оси Y верхнего левого угла фрагмента, который будет вырезан из изображения-источника и помещён в контекст-приёмник.</a:t>
            </a:r>
            <a:endParaRPr lang="en-US" altLang="en-US"/>
          </a:p>
          <a:p>
            <a:r>
              <a:rPr lang="en-US" altLang="en-US"/>
              <a:t>sWidth - ширина фрагмента, который будет вырезан из изображения источника и помещён в контекст-приёмник. Если не задана, фрагмент от точки, заданной sx и sy до правого нижнего угла источника будет целиком скопирован в контекст-приёмник.</a:t>
            </a:r>
            <a:endParaRPr lang="en-US" altLang="en-US"/>
          </a:p>
          <a:p>
            <a:r>
              <a:rPr lang="en-US" altLang="en-US"/>
              <a:t>sHeight - высота фрагмента, который будет вырезан из изображения источника и помещён в контекст-приёмник.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изображения в canvas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43675" y="2011045"/>
            <a:ext cx="5219065" cy="516128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sz="half"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sx - координата по оси X верхнего левого угла фрагмента, который будет вырезан из изображения-источника и помещён в контекст-приёмник.</a:t>
            </a:r>
            <a:endParaRPr lang="en-US" altLang="en-US"/>
          </a:p>
          <a:p>
            <a:r>
              <a:rPr lang="en-US" altLang="en-US"/>
              <a:t>sy - координата по оси Y верхнего левого угла фрагмента, который будет вырезан из изображения-источника и помещён в контекст-приёмник.</a:t>
            </a:r>
            <a:endParaRPr lang="en-US" altLang="en-US"/>
          </a:p>
          <a:p>
            <a:r>
              <a:rPr lang="en-US" altLang="en-US"/>
              <a:t>sWidth - ширина фрагмента, который будет вырезан из изображения источника и помещён в контекст-приёмник. Если не задана, фрагмент от точки, заданной sx и sy до правого нижнего угла источника будет целиком скопирован в контекст-приёмник.</a:t>
            </a:r>
            <a:endParaRPr lang="en-US" altLang="en-US"/>
          </a:p>
          <a:p>
            <a:r>
              <a:rPr lang="en-US" altLang="en-US"/>
              <a:t>sHeight - высота фрагмента, который будет вырезан из изображения источника и помещён в контекст-приёмник.</a:t>
            </a: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Рисуем картинку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9947275" cy="204089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Если нам нужно нарисовать картинку в canvas частично, нужно указывать сначала координаты левого верхнего угла картинки-исходника и нужные размеры по ширине и высоте, а затем уже координаты расположения верхнего левого угла этой картинки в canvas, а также размеры в canvas по ширине и высоте. Учтите, если размеры не будут совпадать, то картинка в canvas будет отображаться с искажениями.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rcRect t="11283" b="8111"/>
          <a:stretch>
            <a:fillRect/>
          </a:stretch>
        </p:blipFill>
        <p:spPr>
          <a:xfrm>
            <a:off x="4026535" y="3943350"/>
            <a:ext cx="7788910" cy="25495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Варианты рисования картинок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Указываем изображение и точку начала рисования на холсте. Изображение поместиться полностью, если холст большой.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ctx.drawImage( image, 0, 0, );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153275" y="2017395"/>
            <a:ext cx="316484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Варианты рисования картинок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Указываем изображение, точку начала рисования и размеры.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ctx.drawImage( image, 0, 0, 150, 150 );</a:t>
            </a:r>
            <a:endParaRPr lang="en-US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350125" y="2017395"/>
            <a:ext cx="277114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Варианты рисования картинок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ctx.drawImage(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image,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50, 0, //С </a:t>
            </a:r>
            <a:r>
              <a:rPr lang="ru-RU" altLang="en-US"/>
              <a:t>какой точки </a:t>
            </a:r>
            <a:r>
              <a:rPr lang="en-US" altLang="en-US"/>
              <a:t>начать захват (x, y исходного изображения)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ru-RU" altLang="en-US"/>
              <a:t> </a:t>
            </a:r>
            <a:r>
              <a:rPr lang="en-US" altLang="en-US"/>
              <a:t> 200, 200, //Сколько нужно взять(width, height)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20, 20, //</a:t>
            </a:r>
            <a:r>
              <a:rPr lang="ru-RU" altLang="en-US"/>
              <a:t>точка начала рсования</a:t>
            </a:r>
            <a:r>
              <a:rPr lang="en-US" altLang="en-US"/>
              <a:t> на холсте (x,y of canvas)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350, 350 //Размер захвата (ширина, высота </a:t>
            </a:r>
            <a:r>
              <a:rPr lang="ru-RU" altLang="en-US"/>
              <a:t>будущего изображения</a:t>
            </a:r>
            <a:r>
              <a:rPr lang="en-US" altLang="en-US"/>
              <a:t> );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287895" y="2017395"/>
            <a:ext cx="28956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Проигрывание видео  в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5000"/>
          </a:bodyPr>
          <a:p>
            <a:pPr marL="0" indent="0">
              <a:buNone/>
            </a:pPr>
            <a:r>
              <a:rPr lang="en-US" altLang="en-US"/>
              <a:t>let video = document.querySelector('video'),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btns = document.querySelectorAll('button'),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canvas = document.querySelector('canvas'),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context = canvas.getContext('2d');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let canvasWidth = canvas.clientWidth;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let canvasHeight = canvas.clientHeight;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500" y="2017395"/>
            <a:ext cx="4645025" cy="395541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btns.forEach(btn =&gt;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btn.onclick = switchSrc;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function switchSrc(){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let dataSrc = this.dataset.src;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console.log(dataSrc);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video.src=dataSrc;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video.load();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video.play();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Проигрывание видео  в </a:t>
            </a:r>
            <a:r>
              <a:rPr lang="en-US" altLang="ru-RU"/>
              <a:t>canvas 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video.onplay = function(){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if(video.paused || video.ended) return false;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draw(this, context, canvasWidth, canvasHeight);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function draw (video, canvas, width, height){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r>
              <a:rPr lang="en-US" altLang="en-US" b="1"/>
              <a:t>canvas.drawImage(video, 0,0, width, height)</a:t>
            </a:r>
            <a:r>
              <a:rPr lang="en-US" altLang="en-US"/>
              <a:t>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setTimeout(draw, 20, video, canvas, width, height);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91555" y="3429000"/>
            <a:ext cx="6042025" cy="33318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>
                <a:sym typeface="+mn-ea"/>
              </a:rPr>
              <a:t>Плагины</a:t>
            </a:r>
            <a:r>
              <a:rPr lang="en-US" altLang="en-US">
                <a:sym typeface="+mn-ea"/>
              </a:rPr>
              <a:t> </a:t>
            </a:r>
            <a:r>
              <a:rPr lang="ru-RU" altLang="en-US">
                <a:sym typeface="+mn-ea"/>
              </a:rPr>
              <a:t>для работы с</a:t>
            </a:r>
            <a:r>
              <a:rPr lang="ru-RU" altLang="en-US">
                <a:sym typeface="+mn-ea"/>
              </a:rPr>
              <a:t> </a:t>
            </a:r>
            <a:r>
              <a:rPr lang="en-US" altLang="ru-RU">
                <a:sym typeface="+mn-ea"/>
              </a:rPr>
              <a:t>canvas 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Particle.js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ru-RU" altLang="en-US"/>
              <a:t>Плагин позволяет создавать системы соединенных линиями частиц в виде заднего фона для любого блока страницы или самостоятельного элемента.</a:t>
            </a:r>
            <a:endParaRPr lang="ru-RU" altLang="en-US"/>
          </a:p>
          <a:p>
            <a:r>
              <a:rPr lang="en-US" altLang="en-US"/>
              <a:t>Загрузите </a:t>
            </a:r>
            <a:r>
              <a:rPr lang="en-US" altLang="en-US">
                <a:hlinkClick r:id="rId1" action="ppaction://hlinkfile"/>
              </a:rPr>
              <a:t>particles.js</a:t>
            </a:r>
            <a:r>
              <a:rPr lang="en-US" altLang="en-US"/>
              <a:t> и </a:t>
            </a:r>
            <a:r>
              <a:rPr lang="ru-RU" altLang="en-US"/>
              <a:t>добавьте блок для частиц и ссылку на плагин в скрипте</a:t>
            </a:r>
            <a:r>
              <a:rPr lang="en-US" altLang="en-US"/>
              <a:t>: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&lt;div id="particles-bg"&gt;&lt;/div&gt;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&lt;script src="js/particles.min.js"&gt;&lt;/script&gt;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&lt;script src="js/my-script.js"&gt;&lt;/script&gt;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js-</a:t>
            </a:r>
            <a:r>
              <a:rPr lang="ru-RU" altLang="en-US"/>
              <a:t>файл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добавьте скрипт в</a:t>
            </a:r>
            <a:r>
              <a:rPr lang="en-US" altLang="ru-RU"/>
              <a:t> </a:t>
            </a:r>
            <a:r>
              <a:rPr lang="ru-RU" altLang="en-US"/>
              <a:t>файле 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my-script.js</a:t>
            </a:r>
            <a:r>
              <a:rPr lang="ru-RU" altLang="en-US">
                <a:sym typeface="+mn-ea"/>
              </a:rPr>
              <a:t>, указав путь к файлу</a:t>
            </a:r>
            <a:r>
              <a:rPr lang="ru-RU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altLang="ru-RU">
                <a:latin typeface="Courier New" panose="02070309020205020404" charset="0"/>
                <a:cs typeface="Courier New" panose="02070309020205020404" charset="0"/>
                <a:sym typeface="+mn-ea"/>
              </a:rPr>
              <a:t>json </a:t>
            </a:r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 настройками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particlesJS.load('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particles-bg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', 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'</a:t>
            </a: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js/particlesjs-config.json', function() {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  console.log('callback - particles.js config loaded');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en-US" altLang="en-US">
                <a:latin typeface="Courier New" panose="02070309020205020404" charset="0"/>
                <a:cs typeface="Courier New" panose="02070309020205020404" charset="0"/>
              </a:rPr>
              <a:t>});</a:t>
            </a:r>
            <a:endParaRPr lang="en-US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Все опции (настройки) можно найти в </a:t>
            </a:r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  <a:hlinkClick r:id="rId1" action="ppaction://hlinkfile"/>
              </a:rPr>
              <a:t>таблице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Опции </a:t>
            </a:r>
            <a:r>
              <a:rPr lang="en-US" altLang="ru-RU"/>
              <a:t>Particle.js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6720840" cy="3448685"/>
          </a:xfrm>
        </p:spPr>
        <p:txBody>
          <a:bodyPr/>
          <a:p>
            <a:r>
              <a:rPr lang="ru-RU" altLang="en-US"/>
              <a:t>Для того чтобы не выбирать опции в текстовом виде из таблицы, можно заглянуть не </a:t>
            </a:r>
            <a:r>
              <a:rPr lang="ru-RU" altLang="en-US">
                <a:hlinkClick r:id="rId1" action="ppaction://hlinkfile"/>
              </a:rPr>
              <a:t>демо-страницу</a:t>
            </a:r>
            <a:r>
              <a:rPr lang="ru-RU" altLang="en-US"/>
              <a:t> плагина и настроить все визуально, а потом скачать </a:t>
            </a:r>
            <a:r>
              <a:rPr lang="en-US" altLang="ru-RU"/>
              <a:t>json-</a:t>
            </a:r>
            <a:r>
              <a:rPr lang="ru-RU" altLang="en-US"/>
              <a:t>файл </a:t>
            </a:r>
            <a:endParaRPr lang="ru-RU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8508365" y="0"/>
          <a:ext cx="3683635" cy="681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3680460" imgH="6804660" progId="Paint.Picture">
                  <p:embed/>
                </p:oleObj>
              </mc:Choice>
              <mc:Fallback>
                <p:oleObj name="" r:id="rId2" imgW="3680460" imgH="680466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08365" y="0"/>
                        <a:ext cx="3683635" cy="681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sym typeface="+mn-ea"/>
              </a:rPr>
              <a:t>CSS-</a:t>
            </a:r>
            <a:r>
              <a:rPr lang="ru-RU" altLang="en-US">
                <a:sym typeface="+mn-ea"/>
              </a:rPr>
              <a:t>стили для </a:t>
            </a:r>
            <a:r>
              <a:rPr lang="en-US" altLang="ru-RU">
                <a:sym typeface="+mn-ea"/>
              </a:rPr>
              <a:t>Particle.js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165" y="2011045"/>
            <a:ext cx="2907030" cy="3448685"/>
          </a:xfrm>
        </p:spPr>
        <p:txBody>
          <a:bodyPr>
            <a:normAutofit fontScale="90000" lnSpcReduction="20000"/>
          </a:bodyPr>
          <a:p>
            <a:r>
              <a:rPr lang="ru-RU" altLang="en-US"/>
              <a:t>Для того чтобы были видны белые частицы, необходимо задать </a:t>
            </a:r>
            <a:r>
              <a:rPr lang="en-US" altLang="ru-RU"/>
              <a:t>css-</a:t>
            </a:r>
            <a:r>
              <a:rPr lang="ru-RU" altLang="en-US"/>
              <a:t>свойства для указанного в вашем коде блока.</a:t>
            </a:r>
            <a:endParaRPr lang="ru-RU" altLang="en-US"/>
          </a:p>
          <a:p>
            <a:r>
              <a:rPr lang="ru-RU" altLang="en-US"/>
              <a:t>Важно, чтобы у него был именно </a:t>
            </a:r>
            <a:r>
              <a:rPr lang="en-US" altLang="ru-RU"/>
              <a:t>id </a:t>
            </a:r>
            <a:r>
              <a:rPr lang="ru-RU" altLang="en-US"/>
              <a:t>для работы плагина. Это и будет селектором для </a:t>
            </a:r>
            <a:r>
              <a:rPr lang="en-US" altLang="ru-RU"/>
              <a:t>CSS </a:t>
            </a:r>
            <a:endParaRPr lang="en-US" alt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5490" y="2017395"/>
            <a:ext cx="2971800" cy="3865245"/>
          </a:xfrm>
        </p:spPr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canvas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display: block;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position: absolute;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top: 0; left: 0;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#particles-bg { width: 100%;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height: 100%;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background-image: linear-gradient(#751010, #000);  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Content Placeholder 3"/>
          <p:cNvSpPr>
            <a:spLocks noGrp="1"/>
          </p:cNvSpPr>
          <p:nvPr/>
        </p:nvSpPr>
        <p:spPr>
          <a:xfrm>
            <a:off x="7945755" y="2018030"/>
            <a:ext cx="2971800" cy="344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en-US"/>
              <a:t>Текстовый блок имеет смысл расположить выше </a:t>
            </a:r>
            <a:r>
              <a:rPr lang="en-US" altLang="ru-RU"/>
              <a:t>canvas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#text-over-canvas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position: relative;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z-index: 1;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ИгРа с помощью </a:t>
            </a:r>
            <a:r>
              <a:rPr lang="en-US" altLang="en-US"/>
              <a:t>konvajs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ru-RU" altLang="en-US"/>
              <a:t>С помощью </a:t>
            </a:r>
            <a:r>
              <a:rPr lang="en-US" altLang="ru-RU">
                <a:hlinkClick r:id="rId1" action="ppaction://hlinkfile"/>
              </a:rPr>
              <a:t>KONVAJS</a:t>
            </a:r>
            <a:r>
              <a:rPr lang="ru-RU" altLang="en-US"/>
              <a:t> можно создавать массу эффектов и не только, а даже игры. </a:t>
            </a:r>
            <a:endParaRPr lang="ru-RU" altLang="en-US"/>
          </a:p>
          <a:p>
            <a:r>
              <a:rPr lang="ru-RU" altLang="en-US"/>
              <a:t>Код примера доступен по </a:t>
            </a:r>
            <a:r>
              <a:rPr lang="ru-RU" altLang="en-US">
                <a:hlinkClick r:id="rId2" action="ppaction://hlinkfile"/>
              </a:rPr>
              <a:t>ссылке</a:t>
            </a:r>
            <a:endParaRPr lang="ru-RU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61175" y="2017395"/>
            <a:ext cx="374904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Ссылки</a:t>
            </a:r>
            <a:endParaRPr lang="ru-RU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828040" y="1587500"/>
            <a:ext cx="6383655" cy="373507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  <a:hlinkClick r:id="rId1"/>
              </a:rPr>
              <a:t>generativeartistry.com</a:t>
            </a:r>
            <a:endParaRPr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  <a:hlinkClick r:id="rId1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  <a:hlinkClick r:id="rId1"/>
              </a:rPr>
              <a:t>https://vincentgarreau.com/particles.js/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  <a:hlinkClick r:id="rId1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</a:rPr>
              <a:t>https://github.com/VincentGarreau/particles.js/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</a:rPr>
              <a:t>https://github.com/ottis/canvas-particles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</a:rPr>
              <a:t>https://www.bestjquery.com/demo/html5-canvas/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</a:rPr>
              <a:t>https://tipsy.github.io/bubbly-bg/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0" i="0">
                <a:solidFill>
                  <a:srgbClr val="FF0000"/>
                </a:solidFill>
                <a:latin typeface="Montserrat" panose="00000500000000000000"/>
                <a:ea typeface="Montserrat" panose="00000500000000000000"/>
              </a:rPr>
              <a:t>https://konvajs.org/</a:t>
            </a: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b="0" i="0">
              <a:solidFill>
                <a:srgbClr val="FF0000"/>
              </a:solidFill>
              <a:latin typeface="Montserrat" panose="00000500000000000000"/>
              <a:ea typeface="Montserrat" panose="0000050000000000000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756*237"/>
  <p:tag name="TABLE_ENDDRAG_RECT" val="113*158*756*237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38416"/>
</p:tagLst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{0EA240FA-E064-49CD-AC95-6BBCBF13F3D8}tf10001114</Template>
  <TotalTime>0</TotalTime>
  <Words>17293</Words>
  <Application>WPS Presentation</Application>
  <PresentationFormat>Breitbild</PresentationFormat>
  <Paragraphs>561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6" baseType="lpstr">
      <vt:lpstr>Arial</vt:lpstr>
      <vt:lpstr>SimSun</vt:lpstr>
      <vt:lpstr>Wingdings</vt:lpstr>
      <vt:lpstr>Courier New</vt:lpstr>
      <vt:lpstr>Gill Sans MT</vt:lpstr>
      <vt:lpstr>Microsoft YaHei</vt:lpstr>
      <vt:lpstr>Arial Unicode MS</vt:lpstr>
      <vt:lpstr>Calibri</vt:lpstr>
      <vt:lpstr>Montserrat</vt:lpstr>
      <vt:lpstr>Katalog</vt:lpstr>
      <vt:lpstr>Paint.Picture</vt:lpstr>
      <vt:lpstr>Canvas в JavaScript</vt:lpstr>
      <vt:lpstr>Тег &lt;canvas&gt;</vt:lpstr>
      <vt:lpstr>Стили для Canvas </vt:lpstr>
      <vt:lpstr>Рисованние в Canvas </vt:lpstr>
      <vt:lpstr>Свойства canvas </vt:lpstr>
      <vt:lpstr>Рисование фигур в Canvas </vt:lpstr>
      <vt:lpstr>Рисование прямоугольника</vt:lpstr>
      <vt:lpstr>Методы для рисования прямоугольника</vt:lpstr>
      <vt:lpstr>Прямоугольники</vt:lpstr>
      <vt:lpstr>Методы для создания Линий (PATH) </vt:lpstr>
      <vt:lpstr>свойства и методы для контуров</vt:lpstr>
      <vt:lpstr>Код для создания "марширующих муравьев"</vt:lpstr>
      <vt:lpstr>Рисуем дуги вместо круга в canvas</vt:lpstr>
      <vt:lpstr>Рисование 2х кругов</vt:lpstr>
      <vt:lpstr>Рисование Дуг с заливкой и без</vt:lpstr>
      <vt:lpstr>PowerPoint 演示文稿</vt:lpstr>
      <vt:lpstr>PowerPoint 演示文稿</vt:lpstr>
      <vt:lpstr>Снег из кругов в Canvas </vt:lpstr>
      <vt:lpstr>Снег из кругов в Canvas </vt:lpstr>
      <vt:lpstr>текст в canvas </vt:lpstr>
      <vt:lpstr>Использование текста в canvas </vt:lpstr>
      <vt:lpstr>Выравнивание текста</vt:lpstr>
      <vt:lpstr>Свойство textBaseline </vt:lpstr>
      <vt:lpstr>Свойство context.textAlign</vt:lpstr>
      <vt:lpstr>Измерение ширины текста </vt:lpstr>
      <vt:lpstr>Создание текста в виде обводки (Контура)</vt:lpstr>
      <vt:lpstr>PowerPoint 演示文稿</vt:lpstr>
      <vt:lpstr>ПРИМЕР: текстовые Часы в canvas </vt:lpstr>
      <vt:lpstr>изображения в canvas </vt:lpstr>
      <vt:lpstr>изображения в canvas. Метод drawImage()</vt:lpstr>
      <vt:lpstr>изображения в canvas</vt:lpstr>
      <vt:lpstr>изображения в canvas</vt:lpstr>
      <vt:lpstr>Рисуем картинку</vt:lpstr>
      <vt:lpstr>PowerPoint 演示文稿</vt:lpstr>
      <vt:lpstr>Варианты рисования картинок</vt:lpstr>
      <vt:lpstr>Варианты рисования картинок</vt:lpstr>
      <vt:lpstr>PowerPoint 演示文稿</vt:lpstr>
      <vt:lpstr>Проигрывание видео  в canvas </vt:lpstr>
      <vt:lpstr>Плагины для работы с canvas </vt:lpstr>
      <vt:lpstr>Particle.js</vt:lpstr>
      <vt:lpstr>js-файл</vt:lpstr>
      <vt:lpstr>Опции Particle.js</vt:lpstr>
      <vt:lpstr>CSS-стили для Particle.js</vt:lpstr>
      <vt:lpstr>ИгРа с помощью konvajs</vt:lpstr>
      <vt:lpstr>Ссылки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Слуцкая</dc:creator>
  <cp:lastModifiedBy>google1589817604</cp:lastModifiedBy>
  <cp:revision>76</cp:revision>
  <dcterms:created xsi:type="dcterms:W3CDTF">2025-06-15T21:24:00Z</dcterms:created>
  <dcterms:modified xsi:type="dcterms:W3CDTF">2025-06-19T22:55:39Z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DFB6A4ECA6954928BE523DC83E3DEB0D_12</vt:lpwstr>
  </property>
  <property fmtid="{D5CDD505-2E9C-101B-9397-08002B2CF9AE}" pid="3" name="KSOProductBuildVer">
    <vt:lpwstr>1033-12.2.0.21546</vt:lpwstr>
  </property>
</Properties>
</file>