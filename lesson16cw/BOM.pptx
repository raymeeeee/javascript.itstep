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7" r:id="rId5"/>
    <p:sldId id="258" r:id="rId6"/>
    <p:sldId id="259" r:id="rId7"/>
    <p:sldId id="261" r:id="rId8"/>
    <p:sldId id="263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62" r:id="rId19"/>
    <p:sldId id="265" r:id="rId20"/>
    <p:sldId id="266" r:id="rId21"/>
    <p:sldId id="268" r:id="rId22"/>
    <p:sldId id="269" r:id="rId23"/>
    <p:sldId id="270" r:id="rId24"/>
    <p:sldId id="271" r:id="rId25"/>
    <p:sldId id="272" r:id="rId26"/>
    <p:sldId id="264" r:id="rId27"/>
    <p:sldId id="273" r:id="rId28"/>
    <p:sldId id="274" r:id="rId29"/>
    <p:sldId id="275" r:id="rId30"/>
    <p:sldId id="276" r:id="rId31"/>
    <p:sldId id="277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html-plus.in.ua/javascript-functions-features-of-use/#callback-funcs" TargetMode="External"/><Relationship Id="rId5" Type="http://schemas.openxmlformats.org/officeDocument/2006/relationships/hyperlink" Target="https://html-plus.in.ua/bom-object-window/#scroll-scrollTo-scrollBy" TargetMode="External"/><Relationship Id="rId4" Type="http://schemas.openxmlformats.org/officeDocument/2006/relationships/hyperlink" Target="https://html-plus.in.ua/bom-object-window/#window-open-close-methods" TargetMode="External"/><Relationship Id="rId3" Type="http://schemas.openxmlformats.org/officeDocument/2006/relationships/hyperlink" Target="https://html-plus.in.ua/dialogovye-okna-prompt-i-confirm/" TargetMode="External"/><Relationship Id="rId2" Type="http://schemas.openxmlformats.org/officeDocument/2006/relationships/hyperlink" Target="https://html-plus.in.ua/add-java-script-on-page-alert/" TargetMode="Externa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ru-RU"/>
              <a:t>BOM - Browser Object Model</a:t>
            </a:r>
            <a:endParaRPr lang="en-US" alt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Объект</a:t>
            </a:r>
            <a:r>
              <a:rPr lang="ru-RU" altLang="en-US">
                <a:sym typeface="+mn-ea"/>
              </a:rPr>
              <a:t>ы </a:t>
            </a:r>
            <a:r>
              <a:rPr lang="en-US" altLang="ru-RU">
                <a:sym typeface="+mn-ea"/>
              </a:rPr>
              <a:t>History,</a:t>
            </a:r>
            <a:r>
              <a:rPr lang="en-US" altLang="en-US">
                <a:sym typeface="+mn-ea"/>
              </a:rPr>
              <a:t> Location, Screen, Window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Объект</a:t>
            </a:r>
            <a:r>
              <a:rPr lang="ru-RU" altLang="en-US">
                <a:sym typeface="+mn-ea"/>
              </a:rPr>
              <a:t> </a:t>
            </a:r>
            <a:r>
              <a:rPr lang="en-US" altLang="ru-RU">
                <a:sym typeface="+mn-ea"/>
              </a:rPr>
              <a:t>History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 sz="1800"/>
              <a:t>О</a:t>
            </a:r>
            <a:r>
              <a:rPr lang="en-US" altLang="en-US" sz="1800"/>
              <a:t>бъект History, т.е. истори</a:t>
            </a:r>
            <a:r>
              <a:rPr lang="ru-RU" altLang="en-US" sz="1800"/>
              <a:t>я</a:t>
            </a:r>
            <a:r>
              <a:rPr lang="en-US" altLang="en-US" sz="1800"/>
              <a:t> браузера</a:t>
            </a:r>
            <a:r>
              <a:rPr lang="ru-RU" altLang="en-US" sz="1800"/>
              <a:t> </a:t>
            </a:r>
            <a:r>
              <a:rPr lang="en-US" altLang="en-US" sz="1800"/>
              <a:t>представлена в виде свойства  </a:t>
            </a:r>
            <a:r>
              <a:rPr lang="en-US" altLang="en-US" sz="1800" b="1"/>
              <a:t>window.history</a:t>
            </a:r>
            <a:r>
              <a:rPr lang="en-US" altLang="en-US" sz="1800"/>
              <a:t> или просто </a:t>
            </a:r>
            <a:r>
              <a:rPr lang="en-US" altLang="en-US" sz="1800" b="1"/>
              <a:t>history</a:t>
            </a:r>
            <a:r>
              <a:rPr lang="en-US" altLang="en-US" sz="1800"/>
              <a:t>. Нужно учитывать, что history является свойством только для чтения, и назначать что-либо для него вы не можете.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Основные свойства и методы объекта History</a:t>
            </a:r>
            <a:endParaRPr lang="en-US" altLang="en-US" sz="1800"/>
          </a:p>
          <a:p>
            <a:r>
              <a:rPr lang="en-US" altLang="en-US" sz="1800" b="1"/>
              <a:t>length</a:t>
            </a:r>
            <a:r>
              <a:rPr lang="en-US" altLang="en-US" sz="1800"/>
              <a:t>: возвращает количество URL-адресов в списке истории.</a:t>
            </a:r>
            <a:endParaRPr lang="en-US" altLang="en-US" sz="1800"/>
          </a:p>
          <a:p>
            <a:r>
              <a:rPr lang="en-US" altLang="en-US" sz="1800" b="1"/>
              <a:t>back()</a:t>
            </a:r>
            <a:r>
              <a:rPr lang="en-US" altLang="en-US" sz="1800"/>
              <a:t>: загружает предыдущий URL-адрес.</a:t>
            </a:r>
            <a:endParaRPr lang="en-US" altLang="en-US" sz="1800"/>
          </a:p>
          <a:p>
            <a:r>
              <a:rPr lang="en-US" altLang="en-US" sz="1800" b="1"/>
              <a:t>forward()</a:t>
            </a:r>
            <a:r>
              <a:rPr lang="en-US" altLang="en-US" sz="1800"/>
              <a:t>: загружает следующий URL-адрес.</a:t>
            </a:r>
            <a:endParaRPr lang="en-US" altLang="en-US" sz="1800"/>
          </a:p>
          <a:p>
            <a:r>
              <a:rPr lang="en-US" altLang="en-US" sz="1800" b="1"/>
              <a:t>go(n)</a:t>
            </a:r>
            <a:r>
              <a:rPr lang="en-US" altLang="en-US" sz="1800"/>
              <a:t>: загружает URL-адрес на n позиций от текущего URL-адреса (положительные значения перемещают вперед, отрицательные значения перемещают назад).</a:t>
            </a:r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Объект Location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 b="1"/>
              <a:t>Объект Location</a:t>
            </a:r>
            <a:r>
              <a:rPr lang="en-US" altLang="en-US" sz="2800"/>
              <a:t> отвечает за сведения о текущем адресе страницы, а также позволяет перенаправить пользователя на нужную страницу или перезагрузить текущую. Это очень полезный объект, который может заменить вам такой html-элемент, как ссылка, по своему функционалу.</a:t>
            </a:r>
            <a:endParaRPr lang="en-US" altLang="en-US" sz="2800"/>
          </a:p>
          <a:p>
            <a:pPr marL="0" indent="0">
              <a:buNone/>
            </a:pPr>
            <a:endParaRPr lang="uk-UA" altLang="en-US" sz="2800"/>
          </a:p>
          <a:p>
            <a:pPr marL="0" indent="0">
              <a:buNone/>
            </a:pPr>
            <a:r>
              <a:rPr lang="uk-UA" altLang="en-US" sz="2800"/>
              <a:t>Д</a:t>
            </a:r>
            <a:r>
              <a:rPr lang="en-US" altLang="en-US" sz="2800"/>
              <a:t>оступ </a:t>
            </a:r>
            <a:r>
              <a:rPr lang="ru-RU" altLang="en-US" sz="2800"/>
              <a:t>к объекту </a:t>
            </a:r>
            <a:r>
              <a:rPr lang="en-US" altLang="ru-RU" sz="2800"/>
              <a:t>Location:</a:t>
            </a:r>
            <a:endParaRPr lang="en-US" altLang="ru-RU" sz="2800"/>
          </a:p>
          <a:p>
            <a:pPr marL="0" indent="0">
              <a:buNone/>
            </a:pPr>
            <a:r>
              <a:rPr lang="en-US" altLang="en-US" sz="2800">
                <a:solidFill>
                  <a:schemeClr val="accent1">
                    <a:lumMod val="75000"/>
                  </a:schemeClr>
                </a:solidFill>
              </a:rPr>
              <a:t>window.location</a:t>
            </a:r>
            <a:endParaRPr lang="en-US" altLang="en-US" sz="280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sz="2800"/>
              <a:t>или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>
                <a:solidFill>
                  <a:schemeClr val="accent1">
                    <a:lumMod val="75000"/>
                  </a:schemeClr>
                </a:solidFill>
              </a:rPr>
              <a:t>location</a:t>
            </a:r>
            <a:endParaRPr lang="en-US" alt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Свойства объекта Location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 b="1"/>
              <a:t>location.hash</a:t>
            </a:r>
            <a:r>
              <a:rPr lang="en-US" altLang="en-US" sz="2000"/>
              <a:t> - устанавливает или возвращает якорную часть (#) текущего адреса (URL);</a:t>
            </a:r>
            <a:endParaRPr lang="en-US" altLang="en-US" sz="2000"/>
          </a:p>
          <a:p>
            <a:r>
              <a:rPr lang="en-US" altLang="en-US" sz="2000" b="1"/>
              <a:t>location.href</a:t>
            </a:r>
            <a:r>
              <a:rPr lang="en-US" altLang="en-US" sz="2000"/>
              <a:t> возвращает адрес (URL) текущей страницы или устанавливает адрес (URL) нужной страницы;</a:t>
            </a:r>
            <a:endParaRPr lang="en-US" altLang="en-US" sz="2000"/>
          </a:p>
          <a:p>
            <a:r>
              <a:rPr lang="en-US" altLang="en-US" sz="2000" b="1"/>
              <a:t>location.pathname</a:t>
            </a:r>
            <a:r>
              <a:rPr lang="en-US" altLang="en-US" sz="2000"/>
              <a:t> возвращает путь и имя файла текущей страницы;</a:t>
            </a:r>
            <a:endParaRPr lang="en-US" altLang="en-US" sz="2000"/>
          </a:p>
          <a:p>
            <a:r>
              <a:rPr lang="en-US" altLang="en-US" sz="2000" b="1"/>
              <a:t>location.protocol</a:t>
            </a:r>
            <a:r>
              <a:rPr lang="en-US" altLang="en-US" sz="2000"/>
              <a:t> возвращает использованный веб-протокол (http: или https:);</a:t>
            </a:r>
            <a:endParaRPr lang="en-US" altLang="en-US" sz="2000"/>
          </a:p>
          <a:p>
            <a:r>
              <a:rPr lang="en-US" altLang="en-US" sz="2000" b="1"/>
              <a:t>location.port</a:t>
            </a:r>
            <a:r>
              <a:rPr lang="en-US" altLang="en-US" sz="2000"/>
              <a:t> возвращает номер порта текущей страницы (по умолчанию порт 80 для протокола http и 443 для https);</a:t>
            </a:r>
            <a:endParaRPr lang="en-US" altLang="en-US" sz="2000"/>
          </a:p>
          <a:p>
            <a:r>
              <a:rPr lang="en-US" altLang="en-US" sz="2000" b="1"/>
              <a:t>location.origin</a:t>
            </a:r>
            <a:r>
              <a:rPr lang="en-US" altLang="en-US" sz="2000"/>
              <a:t> - возвращает протокол, имя хоста и номер порта URL;</a:t>
            </a:r>
            <a:endParaRPr lang="en-US" altLang="en-US" sz="2000"/>
          </a:p>
          <a:p>
            <a:r>
              <a:rPr lang="en-US" altLang="en-US" sz="2000" b="1"/>
              <a:t>location.search</a:t>
            </a:r>
            <a:r>
              <a:rPr lang="en-US" altLang="en-US" sz="2000"/>
              <a:t> возвращает часть URL после знака "?" вместе с этим знаком, которая отвечает за передаваемые параметры. Например, в адресе </a:t>
            </a:r>
            <a:r>
              <a:rPr lang="en-US" altLang="en-US" sz="2000" i="1"/>
              <a:t>http://mysite.com/?post=34&amp;user_id=3467</a:t>
            </a:r>
            <a:r>
              <a:rPr lang="en-US" altLang="en-US" sz="2000"/>
              <a:t> свойство location.search вернет </a:t>
            </a:r>
            <a:r>
              <a:rPr lang="en-US" altLang="en-US" sz="2000" b="1"/>
              <a:t>?post=34&amp;user_id=3467</a:t>
            </a:r>
            <a:r>
              <a:rPr lang="en-US" altLang="en-US" sz="2000"/>
              <a:t>. </a:t>
            </a:r>
            <a:endParaRPr lang="en-US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Методы объекта Location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 b="1"/>
              <a:t>location.assign('url нового документа')</a:t>
            </a:r>
            <a:r>
              <a:rPr lang="en-US" altLang="en-US" sz="2000"/>
              <a:t> загружает новый документ по указанному в скобках адресу;</a:t>
            </a:r>
            <a:endParaRPr lang="en-US" altLang="en-US" sz="2000"/>
          </a:p>
          <a:p>
            <a:r>
              <a:rPr lang="en-US" altLang="en-US" sz="2000" b="1"/>
              <a:t>location.replace('url нового документа') </a:t>
            </a:r>
            <a:r>
              <a:rPr lang="en-US" altLang="en-US" sz="2000"/>
              <a:t>- заменяет текущий документ на тот, URL которого указан в качестве параметра в скобках. Не сохраняется в истории браузера, т.е. при нажатии кнопки "Назад" в браузере вы не вернетесь на предыдущую страницу;</a:t>
            </a:r>
            <a:endParaRPr lang="en-US" altLang="en-US" sz="2000"/>
          </a:p>
          <a:p>
            <a:r>
              <a:rPr lang="en-US" altLang="en-US" sz="2000" b="1"/>
              <a:t>location.reload()</a:t>
            </a:r>
            <a:r>
              <a:rPr lang="en-US" altLang="en-US" sz="2000"/>
              <a:t> - перезагружает текущий документ. В качестве необязательного параметра можно указать значение true, и тогда произойдет принудительное обновление страницы с сервера. Если параметр не указан или имеет значение false, то обновление страницы происходит из кэша браузера. Метод reload() - это программный вариант нажатия кнопки обновить в вашем браузере.</a:t>
            </a:r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Пример с использованием </a:t>
            </a:r>
            <a:r>
              <a:rPr lang="en-US" altLang="en-US"/>
              <a:t>location.assign(</a:t>
            </a:r>
            <a:r>
              <a:rPr lang="ru-RU" altLang="en-US"/>
              <a:t>) 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/>
              <a:t>&lt;form name="categoryForm"&gt;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&lt;select name="categorySelect"&gt;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&lt;option value="#"&gt;Выберите категорию сайта&lt;/option&gt;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&lt;option value="/category/bootstrap/"&gt;Bootstrap&lt;/option&gt;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&lt;option value="/category/javascript/"&gt;JavaScript&lt;/option&gt;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&lt;option value="/category/javascript/es6/"&gt;ES6&lt;/option&gt;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&lt;option value="/category/jquery/"&gt;jQuery&lt;/option&gt;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&lt;option value="/category/html/"&gt;HTML&lt;/option&gt;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&lt;option value="/category/css/"&gt;CSS&lt;/option&gt;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&lt;/select&gt;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&lt;/form&gt;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&lt;script&gt;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document.categoryForm.categorySelect.addEventListener('change',function(){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location.assign(this.value);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});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&lt;/script&gt;</a:t>
            </a: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Объект </a:t>
            </a:r>
            <a:r>
              <a:rPr lang="en-US" altLang="ru-RU"/>
              <a:t>Window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Window — это глобальный объект в браузере, представляющий окно браузера, </a:t>
            </a:r>
            <a:r>
              <a:rPr lang="ru-RU" altLang="en-US" sz="2000"/>
              <a:t>поэтому</a:t>
            </a:r>
            <a:r>
              <a:rPr lang="en-US" altLang="en-US" sz="2000"/>
              <a:t> все переменные и функции, которые ты объявляешь в JavaScript вне каких-то других функций, становятся тоже глобальными и принадлежащимиwindow.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var a = 10;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console.log(window.a); // 10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&lt;div id="text"&gt;Some text here&lt;/div&gt;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&lt;div id="some-div"&gt;Some text here&lt;/div&gt;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&lt;div id="changeText"&gt;Change this text!&lt;/div&gt;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&lt;script&gt;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text.textContent = 'I use JavaScript';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window['some-div'].innerText = 'I change inner text';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window.changeText.innerHTML = '&lt;b&gt;New text&lt;/b&gt; from &lt;i&gt;JavaScript&lt;/i&gt;';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&lt;/script&gt;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Свойства объекта Window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 b="1"/>
              <a:t>Размер окна</a:t>
            </a:r>
            <a:endParaRPr lang="en-US" altLang="en-US" sz="2800" b="1"/>
          </a:p>
          <a:p>
            <a:pPr marL="0" indent="0">
              <a:buNone/>
            </a:pPr>
            <a:r>
              <a:rPr lang="en-US" altLang="en-US" sz="1600"/>
              <a:t>Чтобы определить размер окна браузера, можно использовать два свойства.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 b="1"/>
              <a:t>window.innerHeight</a:t>
            </a:r>
            <a:r>
              <a:rPr lang="en-US" altLang="en-US" sz="1600"/>
              <a:t> – внутренняя высота окна браузера (в пикселях) без панели инструментов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 b="1"/>
              <a:t>window.innerWidth</a:t>
            </a:r>
            <a:r>
              <a:rPr lang="en-US" altLang="en-US" sz="1600"/>
              <a:t> – внутренняя ширина окна браузера (в пикселях) без полосы прокрутки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Оба свойства возвращают размер в пикселях. Показывают высоту и ширину области просмотра (viewport), без полос прокрутки и панели инструментов.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 b="1"/>
              <a:t>window.outerHeight</a:t>
            </a:r>
            <a:r>
              <a:rPr lang="en-US" altLang="en-US" sz="1600"/>
              <a:t> возвращает высоту в пикселях, включая элементы интерфейса, такие как панели инструментов и полосы прокрутки.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 b="1"/>
              <a:t>window.outerWidth</a:t>
            </a:r>
            <a:r>
              <a:rPr lang="en-US" altLang="en-US" sz="1600"/>
              <a:t> возвращает ширину внешней части окна браузера, включая полосы прокрутки и боковые панели типа Инструментов разработчика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  <a:sym typeface="+mn-ea"/>
              </a:rPr>
              <a:t>document.write(`&lt;p&gt;window.outerWidth = ${window.outerWidth}&lt;/p&gt;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  <a:sym typeface="+mn-ea"/>
              </a:rPr>
              <a:t>&lt;p&gt;window.innerWidth = ${window.innerWidth}&lt;/p&gt;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  <a:sym typeface="+mn-ea"/>
              </a:rPr>
              <a:t>&lt;p&gt;window.outerHeight = ${window.outerHeight}&lt;/p&gt;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  <a:sym typeface="+mn-ea"/>
              </a:rPr>
              <a:t>&lt;p&gt;window.innerHeight = ${window.innerHeight}&lt;/p&gt;`);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Свойства объекта Window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 b="1"/>
              <a:t>Прокрутка документа</a:t>
            </a:r>
            <a:endParaRPr lang="en-US" altLang="en-US" sz="2800" b="1"/>
          </a:p>
          <a:p>
            <a:pPr marL="0" indent="0">
              <a:buNone/>
            </a:pPr>
            <a:r>
              <a:rPr lang="en-US" altLang="en-US" sz="1800" b="1"/>
              <a:t>window.scrollY и window.scrollX</a:t>
            </a:r>
            <a:r>
              <a:rPr lang="en-US" altLang="en-US" sz="1800"/>
              <a:t> - показывают, насколько прокручен документ по вертикали и горизонтали соответственно.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Раньше для этого использовали </a:t>
            </a:r>
            <a:r>
              <a:rPr lang="en-US" altLang="en-US" sz="1800" b="1"/>
              <a:t>document.documentElement.scrollTop</a:t>
            </a:r>
            <a:r>
              <a:rPr lang="en-US" altLang="en-US" sz="1800"/>
              <a:t>, но scrollY проще и понятнее.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window.pageYOffset</a:t>
            </a:r>
            <a:r>
              <a:rPr lang="en-US" altLang="en-US" sz="1800"/>
              <a:t> и </a:t>
            </a:r>
            <a:r>
              <a:rPr lang="en-US" altLang="en-US" sz="1800" b="1"/>
              <a:t>pageXOffset</a:t>
            </a:r>
            <a:r>
              <a:rPr lang="en-US" altLang="en-US" sz="1800"/>
              <a:t> - Полные аналоги scrollY и scrollX. Можно использовать как замену: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latin typeface="Courier New" panose="02070309020205020404" charset="0"/>
                <a:cs typeface="Courier New" panose="02070309020205020404" charset="0"/>
              </a:rPr>
              <a:t>console.log(window.pageYOffset === window.scrollY); // true</a:t>
            </a:r>
            <a:endParaRPr lang="en-US" altLang="en-US" sz="1800"/>
          </a:p>
          <a:p>
            <a:pPr marL="0" indent="0">
              <a:buNone/>
            </a:pPr>
            <a:endParaRPr lang="en-US" altLang="en-US" sz="2000" b="1"/>
          </a:p>
          <a:p>
            <a:pPr marL="0" indent="0">
              <a:buNone/>
            </a:pPr>
            <a:r>
              <a:rPr lang="en-US" altLang="en-US" sz="2000" b="1"/>
              <a:t>Различие между scrollTop и scrollY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1600" b="1"/>
              <a:t>scrollTop</a:t>
            </a:r>
            <a:r>
              <a:rPr lang="en-US" altLang="en-US" sz="1600"/>
              <a:t> — это свойство конкретного DOM-элемента (например, .</a:t>
            </a: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scrollable-div</a:t>
            </a:r>
            <a:r>
              <a:rPr lang="en-US" altLang="en-US" sz="1600"/>
              <a:t>), которое показывает, насколько он прокручен.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 b="1"/>
              <a:t>window.scrollY </a:t>
            </a:r>
            <a:r>
              <a:rPr lang="en-US" altLang="en-US" sz="1600"/>
              <a:t>— это глобальная прокрутка всего окна.</a:t>
            </a:r>
            <a:endParaRPr lang="en-US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Событие </a:t>
            </a:r>
            <a:r>
              <a:rPr lang="en-US"/>
              <a:t>window.onscroll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const progressBar = document.getElementById('progressBar');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const infoBox = document.getElementById('infoBox');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window.addEventListener('scroll', () =&gt; {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const scrollTop = window.scrollY;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const docHeight = document.documentElement.scrollHeight - window.innerHeight;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const scrollPercent = (scrollTop / docHeight) * 100;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progressBar.style.width = `${scrollPercent}%`;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infoBox.innerHTML = `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  &lt;strong&gt;window.pageYOffset:&lt;/strong&gt; ${window.pageYOffset.toFixed(2)}&lt;br&gt;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  &lt;strong&gt;window.scrollY:&lt;/strong&gt; ${window.scrollY.toFixed(2)}&lt;br&gt;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  &lt;strong&gt;window.innerHeight:&lt;/strong&gt; ${window.innerHeight}&lt;br&gt;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  &lt;strong&gt;window.innerWidth:&lt;/strong&gt; ${window.innerWidth}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`;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});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Методы объекта </a:t>
            </a:r>
            <a:r>
              <a:rPr lang="en-US" altLang="ru-RU"/>
              <a:t>Window</a:t>
            </a:r>
            <a:endParaRPr lang="en-US" altLang="ru-RU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543560" y="1774825"/>
          <a:ext cx="10551160" cy="3495675"/>
        </p:xfrm>
        <a:graphic>
          <a:graphicData uri="http://schemas.openxmlformats.org/drawingml/2006/table">
            <a:tbl>
              <a:tblPr/>
              <a:tblGrid>
                <a:gridCol w="5275580"/>
                <a:gridCol w="5275580"/>
              </a:tblGrid>
              <a:tr h="1746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Метод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Описание метода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8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2"/>
                        </a:rPr>
                        <a:t>alert()</a:t>
                      </a:r>
                      <a:endParaRPr sz="1100" b="0" i="0">
                        <a:solidFill>
                          <a:srgbClr val="1E8CBE"/>
                        </a:solidFill>
                        <a:latin typeface="Montserrat" panose="00000500000000000000"/>
                        <a:ea typeface="Montserrat" panose="00000500000000000000"/>
                        <a:hlinkClick r:id="rId2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Диалоговое окно для вывода строковых сообщении/переменных. В окне отображается только кнопка «ОК»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25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3"/>
                        </a:rPr>
                        <a:t>confirm()</a:t>
                      </a:r>
                      <a:endParaRPr sz="1100" b="0" i="0">
                        <a:solidFill>
                          <a:srgbClr val="1E8CBE"/>
                        </a:solidFill>
                        <a:latin typeface="Montserrat" panose="00000500000000000000"/>
                        <a:ea typeface="Montserrat" panose="00000500000000000000"/>
                        <a:hlinkClick r:id="rId3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Сообщение диалогового окна подтверждения отображается в методе Windows с кнопками «ОК» и «Отмена».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25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3"/>
                        </a:rPr>
                        <a:t>prompt()</a:t>
                      </a:r>
                      <a:endParaRPr sz="1100" b="0" i="0">
                        <a:solidFill>
                          <a:srgbClr val="1E8CBE"/>
                        </a:solidFill>
                        <a:latin typeface="Montserrat" panose="00000500000000000000"/>
                        <a:ea typeface="Montserrat" panose="00000500000000000000"/>
                        <a:hlinkClick r:id="rId3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диалоговое окно для ввода текста пользователем, дизайн которого зависит от браузера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52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print()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Открывает диалог печати.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46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4"/>
                        </a:rPr>
                        <a:t>open(url, name, windowFeatures)</a:t>
                      </a:r>
                      <a:endParaRPr sz="1100" b="0" i="0">
                        <a:solidFill>
                          <a:srgbClr val="1E8CBE"/>
                        </a:solidFill>
                        <a:latin typeface="Montserrat" panose="00000500000000000000"/>
                        <a:ea typeface="Montserrat" panose="00000500000000000000"/>
                        <a:hlinkClick r:id="rId4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Открывает новое окно.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52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4"/>
                        </a:rPr>
                        <a:t>close()</a:t>
                      </a:r>
                      <a:endParaRPr sz="1100" b="0" i="0">
                        <a:solidFill>
                          <a:srgbClr val="1E8CBE"/>
                        </a:solidFill>
                        <a:latin typeface="Montserrat" panose="00000500000000000000"/>
                        <a:ea typeface="Montserrat" panose="00000500000000000000"/>
                        <a:hlinkClick r:id="rId4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Закрывает текущее окно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46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focus()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Переносит фокус на окно.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46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5"/>
                        </a:rPr>
                        <a:t>scroll()</a:t>
                      </a: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5"/>
                        </a:rPr>
                        <a:t> </a:t>
                      </a: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5"/>
                        </a:rPr>
                        <a:t>и</a:t>
                      </a: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5"/>
                        </a:rPr>
                        <a:t> </a:t>
                      </a: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5"/>
                        </a:rPr>
                        <a:t>scrollTo()</a:t>
                      </a:r>
                      <a:endParaRPr sz="1100" b="0" i="0">
                        <a:solidFill>
                          <a:srgbClr val="1E8CBE"/>
                        </a:solidFill>
                        <a:latin typeface="Montserrat" panose="00000500000000000000"/>
                        <a:ea typeface="Montserrat" panose="00000500000000000000"/>
                        <a:hlinkClick r:id="rId5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Прокручивают страницу программно.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52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5"/>
                        </a:rPr>
                        <a:t>scrollBy()</a:t>
                      </a:r>
                      <a:endParaRPr sz="1100" b="0" i="0">
                        <a:solidFill>
                          <a:srgbClr val="1E8CBE"/>
                        </a:solidFill>
                        <a:latin typeface="Montserrat" panose="00000500000000000000"/>
                        <a:ea typeface="Montserrat" panose="00000500000000000000"/>
                        <a:hlinkClick r:id="rId5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Прокручивает документ в окне на указанную величину.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46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resizeTo(width, height)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Масштабирует новое окно до определенных размеров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46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moveTo(), moveBy()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Передвигает текущее окно. Используются крайне редко.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46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requestAnimationFrame()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Для плавной анимации покадрово.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8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setTimeout()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По истечении определенного времени метод вызывает функцию с вычисление выражений, отображением данных и т.п.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25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setInterval()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Он многократно вызывает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1E8CBE"/>
                          </a:solidFill>
                          <a:latin typeface="Montserrat" panose="00000500000000000000"/>
                          <a:ea typeface="Montserrat" panose="00000500000000000000"/>
                          <a:hlinkClick r:id="rId6"/>
                        </a:rPr>
                        <a:t>функцию обратного вызова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с фиксированной задержкой между каждым вызовом.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  <a:hlinkClick r:id="rId6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Метод</a:t>
            </a:r>
            <a:r>
              <a:rPr lang="ru-RU" altLang="en-US">
                <a:sym typeface="+mn-ea"/>
              </a:rPr>
              <a:t>ы</a:t>
            </a:r>
            <a:r>
              <a:rPr lang="en-US" altLang="en-US">
                <a:sym typeface="+mn-ea"/>
              </a:rPr>
              <a:t> scroll() и scrollTo() и scrollBy()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351780"/>
          </a:xfrm>
        </p:spPr>
        <p:txBody>
          <a:bodyPr/>
          <a:p>
            <a:pPr marL="0" indent="0">
              <a:buNone/>
            </a:pPr>
            <a:r>
              <a:rPr lang="en-US" altLang="en-US" sz="1600"/>
              <a:t>Метод </a:t>
            </a:r>
            <a:r>
              <a:rPr lang="en-US" altLang="en-US" sz="1600" b="1"/>
              <a:t>scroll()</a:t>
            </a:r>
            <a:r>
              <a:rPr lang="en-US" altLang="en-US" sz="1600"/>
              <a:t> прокручивает окно до определенного места в документе. Метод </a:t>
            </a:r>
            <a:r>
              <a:rPr lang="en-US" altLang="en-US" sz="1600" b="1"/>
              <a:t>scrollTo()</a:t>
            </a:r>
            <a:r>
              <a:rPr lang="en-US" altLang="en-US" sz="1600"/>
              <a:t> прокручивает окно  до определенного набора координат в документе. Метод </a:t>
            </a:r>
            <a:r>
              <a:rPr lang="en-US" altLang="en-US" sz="1600" b="1"/>
              <a:t>scrollBy()</a:t>
            </a:r>
            <a:r>
              <a:rPr lang="en-US" altLang="en-US" sz="1600"/>
              <a:t> прокручивает документ в окне на указанную величину.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 b="1"/>
              <a:t>Синтаксис: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scroll(xCoord, yCoord) ||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scrollTo(xCoord, yCoord) || scrollBy(xCoord, yCoord)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scroll(options) //scroll(top, left, behavior) ||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scrollTo(options) //scrollTo(top, left, behavior)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scrollBy(options) //scrollBy(top, left, behavior)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Параметры методов: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xCoord, left, yCoord, top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- координаты по оси X и оси Y, до которых нужно прокрутить окно.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behavior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- параметр, который определяет, будет ли прокрутка мгновенной или плавно анимированной. Эта опция представляет собой строку, которая должна принимать одно из следующих значений: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smooth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: прокрутка должна быть плавной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instant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: прокрутка должна происходить мгновенно, одним прыжком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auto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: поведение прокрутки определяется вычисленным значениемscroll-behavior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Пример использования метода </a:t>
            </a:r>
            <a:r>
              <a:rPr lang="en-US" altLang="ru-RU"/>
              <a:t>scroll()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function scrollToSection(id) {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const el = document.getElementById(id);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const top = el.offsetTop;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window.scrollTo({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top: top - 20, // чтоб не прилипало к верхнему краю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behavior: 'smooth'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});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</a:t>
            </a:r>
            <a:r>
              <a:rPr lang="en-US" altLang="en-US"/>
              <a:t>етод</a:t>
            </a:r>
            <a:r>
              <a:rPr lang="ru-RU" altLang="en-US"/>
              <a:t>ы</a:t>
            </a:r>
            <a:r>
              <a:rPr lang="en-US" altLang="en-US"/>
              <a:t> window.open() и window.close()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600"/>
              <a:t>Метод</a:t>
            </a:r>
            <a:r>
              <a:rPr lang="en-US" altLang="en-US" sz="1600" b="1"/>
              <a:t> window.open()</a:t>
            </a:r>
            <a:r>
              <a:rPr lang="en-US" altLang="en-US" sz="1600"/>
              <a:t> загружает указанный ресурс в новый или существующий контекст просмотра (то есть вкладку, окно или iframe ) под указанным именем. Параметры, указанные в методе, являются необязательными.</a:t>
            </a:r>
            <a:endParaRPr lang="en-US" altLang="en-US" sz="1600"/>
          </a:p>
          <a:p>
            <a:pPr marL="0" indent="0">
              <a:buNone/>
            </a:pPr>
            <a:endParaRPr lang="en-US" altLang="en-US" sz="1600" b="1"/>
          </a:p>
          <a:p>
            <a:pPr marL="0" indent="0">
              <a:buNone/>
            </a:pPr>
            <a:r>
              <a:rPr lang="en-US" altLang="en-US" sz="1600" b="1"/>
              <a:t>Параметры:</a:t>
            </a:r>
            <a:endParaRPr lang="en-US" altLang="en-US" sz="1600" b="1"/>
          </a:p>
          <a:p>
            <a:r>
              <a:rPr lang="en-US" altLang="en-US" sz="1600" b="1"/>
              <a:t>url </a:t>
            </a:r>
            <a:r>
              <a:rPr lang="en-US" altLang="en-US" sz="1600"/>
              <a:t>- строка, указывающая URL или путь ресурса для загрузки. Если указана пустая строка ("") или этот параметр пропущен, в целевом контексте просмотра открывается пустая страница.</a:t>
            </a:r>
            <a:endParaRPr lang="en-US" altLang="en-US" sz="1600"/>
          </a:p>
          <a:p>
            <a:r>
              <a:rPr lang="en-US" altLang="en-US" sz="1600" b="1"/>
              <a:t>target </a:t>
            </a:r>
            <a:r>
              <a:rPr lang="en-US" altLang="en-US" sz="1600"/>
              <a:t>- строка без пробелов, указывающая имя контекста просмотра, в который загружается ресурс. Если имя не идентифицирует существующий контекст, создается новый контекст с указанным именем. Также могут использоваться специальные ключевые слова, которые характерны для атрибута ссылки target: _self, _blank (по умолчанию), _parent, _top( относится только к фреймам, доступным в HTML 4, например).</a:t>
            </a:r>
            <a:endParaRPr lang="en-US" altLang="en-US" sz="1600"/>
          </a:p>
          <a:p>
            <a:r>
              <a:rPr lang="en-US" altLang="en-US" sz="1600" b="1"/>
              <a:t>windowFeatures</a:t>
            </a:r>
            <a:r>
              <a:rPr lang="en-US" altLang="en-US" sz="1600"/>
              <a:t> - строка, содержащая разделенный запятыми список функций окна в форме name=value. Например, это popup=true (всплывающее окно), location, toolbar, menubar, resizable, scrollbars, status.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В </a:t>
            </a:r>
            <a:r>
              <a:rPr lang="en-US" altLang="en-US" sz="1600" b="1"/>
              <a:t>windowFeatures </a:t>
            </a:r>
            <a:r>
              <a:rPr lang="en-US" altLang="en-US" sz="1600"/>
              <a:t>возможна следующая информация:</a:t>
            </a:r>
            <a:endParaRPr lang="en-US" altLang="en-US" sz="1600"/>
          </a:p>
          <a:p>
            <a:r>
              <a:rPr lang="en-US" altLang="en-US" sz="1600" b="1"/>
              <a:t>width </a:t>
            </a:r>
            <a:r>
              <a:rPr lang="en-US" altLang="en-US" sz="1600"/>
              <a:t>или </a:t>
            </a:r>
            <a:r>
              <a:rPr lang="en-US" altLang="en-US" sz="1600" b="1"/>
              <a:t>innerWidth</a:t>
            </a:r>
            <a:r>
              <a:rPr lang="en-US" altLang="en-US" sz="1600"/>
              <a:t>: Ширина нового окна в пикселях, например, width=200.</a:t>
            </a:r>
            <a:endParaRPr lang="en-US" altLang="en-US" sz="1600"/>
          </a:p>
          <a:p>
            <a:r>
              <a:rPr lang="en-US" altLang="en-US" sz="1600" b="1"/>
              <a:t>height </a:t>
            </a:r>
            <a:r>
              <a:rPr lang="en-US" altLang="en-US" sz="1600"/>
              <a:t>или </a:t>
            </a:r>
            <a:r>
              <a:rPr lang="en-US" altLang="en-US" sz="1600" b="1"/>
              <a:t>innerHeight</a:t>
            </a:r>
            <a:r>
              <a:rPr lang="en-US" altLang="en-US" sz="1600"/>
              <a:t>: Высота нового окна в пикселях, например, height=200.</a:t>
            </a:r>
            <a:endParaRPr lang="en-US" altLang="en-US" sz="1600"/>
          </a:p>
          <a:p>
            <a:r>
              <a:rPr lang="en-US" altLang="en-US" sz="1600" b="1"/>
              <a:t>left </a:t>
            </a:r>
            <a:r>
              <a:rPr lang="en-US" altLang="en-US" sz="1600"/>
              <a:t>или </a:t>
            </a:r>
            <a:r>
              <a:rPr lang="en-US" altLang="en-US" sz="1600" b="1"/>
              <a:t>screenX</a:t>
            </a:r>
            <a:r>
              <a:rPr lang="en-US" altLang="en-US" sz="1600"/>
              <a:t>: Горизонтальное значение верхнего левого угла нового окна в пикселях, например, left=100.</a:t>
            </a:r>
            <a:endParaRPr lang="en-US" altLang="en-US" sz="1600"/>
          </a:p>
          <a:p>
            <a:r>
              <a:rPr lang="en-US" altLang="en-US" sz="1600" b="1"/>
              <a:t>top </a:t>
            </a:r>
            <a:r>
              <a:rPr lang="en-US" altLang="en-US" sz="1600"/>
              <a:t>или </a:t>
            </a:r>
            <a:r>
              <a:rPr lang="en-US" altLang="en-US" sz="1600" b="1"/>
              <a:t>screenY</a:t>
            </a:r>
            <a:r>
              <a:rPr lang="en-US" altLang="en-US" sz="1600"/>
              <a:t>: Вертикальное значение верхнего левого угла нового окна в пикселях, например, top=100.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</a:t>
            </a:r>
            <a:r>
              <a:rPr lang="en-US" altLang="en-US"/>
              <a:t>етод</a:t>
            </a:r>
            <a:r>
              <a:rPr lang="ru-RU" altLang="en-US"/>
              <a:t>ы</a:t>
            </a:r>
            <a:r>
              <a:rPr lang="en-US" altLang="en-US"/>
              <a:t> window.open() и window.close()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600" b="1">
                <a:sym typeface="+mn-ea"/>
              </a:rPr>
              <a:t>location</a:t>
            </a:r>
            <a:r>
              <a:rPr lang="en-US" altLang="en-US" sz="1600">
                <a:sym typeface="+mn-ea"/>
              </a:rPr>
              <a:t>: ( yes/no) Если да ( yes), окно будет иметь собственную адресную строку. Если нет ( no), адресная строка не будет получена. Значение по умолчанию — no, но в Internet Explorer оно действует только в том случае, если строка параметров содержит хотя бы один параметр.</a:t>
            </a:r>
            <a:endParaRPr lang="en-US" altLang="en-US" sz="1600"/>
          </a:p>
          <a:p>
            <a:r>
              <a:rPr lang="en-US" altLang="en-US" sz="1600" b="1">
                <a:sym typeface="+mn-ea"/>
              </a:rPr>
              <a:t>menubar</a:t>
            </a:r>
            <a:r>
              <a:rPr lang="en-US" altLang="en-US" sz="1600">
                <a:sym typeface="+mn-ea"/>
              </a:rPr>
              <a:t>: Если да ( yes), окно получает собственную строку меню с командами браузера. Если нет ( no), то строка меню не будет. Значение по умолчанию — no, но в Internet Explorer оно действует только в том случае, если строка параметров содержит хотя бы один параметр. Обратите внимание: в Safari строка меню не является частью окна, как это обычно бывает на Macintosh, и поэтому ее нельзя скрыть.</a:t>
            </a:r>
            <a:endParaRPr lang="en-US" altLang="en-US" sz="1600"/>
          </a:p>
          <a:p>
            <a:r>
              <a:rPr lang="en-US" altLang="en-US" sz="1600" b="1">
                <a:sym typeface="+mn-ea"/>
              </a:rPr>
              <a:t>scrollbars</a:t>
            </a:r>
            <a:r>
              <a:rPr lang="en-US" altLang="en-US" sz="1600">
                <a:sym typeface="+mn-ea"/>
              </a:rPr>
              <a:t>: Если да ( yes), в окне будут полосы прокрутки. Если нет ( no), пользователь не может прокручивать окно. Значение по умолчанию — no, но в Internet Explorer оно действует только в том случае, если строка параметров содержит хотя бы один параметр.</a:t>
            </a:r>
            <a:endParaRPr lang="en-US" altLang="en-US" sz="1600"/>
          </a:p>
          <a:p>
            <a:r>
              <a:rPr lang="en-US" altLang="en-US" sz="1600" b="1">
                <a:sym typeface="+mn-ea"/>
              </a:rPr>
              <a:t>toolbar</a:t>
            </a:r>
            <a:r>
              <a:rPr lang="en-US" altLang="en-US" sz="1600">
                <a:sym typeface="+mn-ea"/>
              </a:rPr>
              <a:t>: Если да ( yes), окно получает собственную панель инструментов. Если нет ( no), то панель инструментов не будет. Значение по умолчанию — no, но в Internet Explorer оно действует только в том случае, если строка параметров содержит хотя бы один параметр.</a:t>
            </a:r>
            <a:endParaRPr lang="en-US" altLang="en-US" sz="1600"/>
          </a:p>
          <a:p>
            <a:r>
              <a:rPr lang="en-US" altLang="en-US" sz="1600" b="1">
                <a:sym typeface="+mn-ea"/>
              </a:rPr>
              <a:t>resizable</a:t>
            </a:r>
            <a:r>
              <a:rPr lang="en-US" altLang="en-US" sz="1600">
                <a:sym typeface="+mn-ea"/>
              </a:rPr>
              <a:t>: yes/noЕсли да ( yes), пользователь может изменить размер окна. Если нет ( no), он не может изменить размер окна. Значение по умолчанию — no, но в Internet Explorer оно действует только в том случае, если строка параметров содержит хотя бы один параметр.</a:t>
            </a:r>
            <a:endParaRPr lang="en-US" altLang="en-US" sz="1600"/>
          </a:p>
          <a:p>
            <a:r>
              <a:rPr lang="en-US" altLang="en-US" sz="1600" b="1">
                <a:sym typeface="+mn-ea"/>
              </a:rPr>
              <a:t>status</a:t>
            </a:r>
            <a:r>
              <a:rPr lang="en-US" altLang="en-US" sz="1600">
                <a:sym typeface="+mn-ea"/>
              </a:rPr>
              <a:t>: ( yes/no) Отображает строку состояния.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/>
              <a:t>Метод </a:t>
            </a:r>
            <a:r>
              <a:rPr lang="en-US" altLang="en-US" sz="1600" b="1"/>
              <a:t>window.close()</a:t>
            </a:r>
            <a:r>
              <a:rPr lang="ru-RU" altLang="en-US" sz="1600" b="1"/>
              <a:t> </a:t>
            </a:r>
            <a:r>
              <a:rPr lang="en-US" altLang="en-US" sz="1600"/>
              <a:t>закрывает текущее окно или окно, в котором он был вызван.</a:t>
            </a:r>
            <a:r>
              <a:rPr lang="ru-RU" altLang="en-US" sz="1600"/>
              <a:t> Для того, чтоб это сделать, надо передать идентификатор окна.</a:t>
            </a:r>
            <a:endParaRPr lang="ru-RU" alt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 sz="1600"/>
              <a:t>М</a:t>
            </a:r>
            <a:r>
              <a:rPr lang="en-US" altLang="en-US" sz="1600"/>
              <a:t>етод </a:t>
            </a:r>
            <a:r>
              <a:rPr lang="en-US" altLang="en-US" sz="1600" b="1"/>
              <a:t>window.close()</a:t>
            </a:r>
            <a:r>
              <a:rPr lang="en-US" altLang="en-US" sz="1600"/>
              <a:t> можно вызывать только в окнах, которые были открыты скриптом с использованием метода </a:t>
            </a:r>
            <a:r>
              <a:rPr lang="en-US" altLang="en-US" sz="1600" b="1"/>
              <a:t>window.open()</a:t>
            </a:r>
            <a:r>
              <a:rPr lang="en-US" altLang="en-US" sz="1600"/>
              <a:t>, или в окнах верхнего уровня, которые имеют одну запись истории. Если окно не соответствует этим требованиям, в консоли появляется ошибка, похожая на эту: </a:t>
            </a: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Scripts may not close windows that were not opened by script.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Кроме того, объект Window позволяет осуществлять связь между окнами с помощью:</a:t>
            </a:r>
            <a:endParaRPr lang="en-US" altLang="en-US" sz="1600"/>
          </a:p>
          <a:p>
            <a:r>
              <a:rPr lang="en-US" altLang="en-US" sz="1600"/>
              <a:t>свойства </a:t>
            </a:r>
            <a:r>
              <a:rPr lang="en-US" altLang="en-US" sz="1600" b="1"/>
              <a:t>window.opener</a:t>
            </a:r>
            <a:r>
              <a:rPr lang="en-US" altLang="en-US" sz="1600"/>
              <a:t> - ссылка на окно, открывшее текущее.</a:t>
            </a:r>
            <a:endParaRPr lang="en-US" altLang="en-US" sz="1600"/>
          </a:p>
          <a:p>
            <a:r>
              <a:rPr lang="en-US" altLang="en-US" sz="1600"/>
              <a:t>метода </a:t>
            </a:r>
            <a:r>
              <a:rPr lang="en-US" altLang="en-US" sz="1600" b="1"/>
              <a:t>window.postMessage()</a:t>
            </a:r>
            <a:r>
              <a:rPr lang="en-US" altLang="en-US" sz="1600"/>
              <a:t> - безопасная передача данных между окнами (или фреймами).</a:t>
            </a:r>
            <a:endParaRPr lang="en-US" altLang="en-US" sz="1600"/>
          </a:p>
          <a:p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Метод </a:t>
            </a:r>
            <a:r>
              <a:rPr lang="en-US" altLang="en-US" sz="1600" b="1"/>
              <a:t>window.close() </a:t>
            </a:r>
            <a:r>
              <a:rPr lang="en-US" altLang="en-US" sz="1600"/>
              <a:t>работает только с окнами, которые были открыты с помощью </a:t>
            </a:r>
            <a:r>
              <a:rPr lang="en-US" altLang="en-US" sz="1600" b="1"/>
              <a:t>window.open()</a:t>
            </a:r>
            <a:r>
              <a:rPr lang="en-US" altLang="en-US" sz="1600"/>
              <a:t> из того же скрипта. Но даже в этом случае: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Если открытое окно имеет URL другого домена (например, https://www.google.com), то:</a:t>
            </a:r>
            <a:endParaRPr lang="en-US" altLang="en-US" sz="1600"/>
          </a:p>
          <a:p>
            <a:r>
              <a:rPr lang="en-US" altLang="en-US" sz="1600"/>
              <a:t>Вы не сможете управлять содержимым этого окна (например, popupWindow.document.title не сработает).</a:t>
            </a:r>
            <a:endParaRPr lang="en-US" altLang="en-US" sz="1600"/>
          </a:p>
          <a:p>
            <a:r>
              <a:rPr lang="en-US" altLang="en-US" sz="1600"/>
              <a:t>В некоторых браузерах (особенно Chrome) даже popupWindow.close() может не сработать, если пользователь не инициировал действие явно или если это считается небезопасным.</a:t>
            </a:r>
            <a:endParaRPr lang="en-US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</a:t>
            </a:r>
            <a:r>
              <a:rPr lang="en-US" altLang="en-US"/>
              <a:t>бъект Screen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161915"/>
          </a:xfrm>
        </p:spPr>
        <p:txBody>
          <a:bodyPr/>
          <a:p>
            <a:pPr marL="0" indent="0">
              <a:buNone/>
            </a:pPr>
            <a:r>
              <a:rPr lang="ru-RU" altLang="en-US" sz="1800"/>
              <a:t>О</a:t>
            </a:r>
            <a:r>
              <a:rPr lang="en-US" altLang="en-US" sz="1800"/>
              <a:t>бъекта Screen</a:t>
            </a:r>
            <a:r>
              <a:rPr lang="ru-RU" altLang="en-US" sz="1800"/>
              <a:t> </a:t>
            </a:r>
            <a:r>
              <a:rPr lang="en-US" altLang="en-US" sz="1800"/>
              <a:t>отвечает за различные параметры экрана. Доступ к этому объекту можно осуществлять </a:t>
            </a:r>
            <a:r>
              <a:rPr lang="ru-RU" altLang="en-US" sz="1800"/>
              <a:t>в виде </a:t>
            </a:r>
            <a:r>
              <a:rPr lang="en-US" altLang="en-US" sz="1800" b="1"/>
              <a:t>window.screen.свойство</a:t>
            </a:r>
            <a:r>
              <a:rPr lang="ru-RU" altLang="en-US" sz="1800"/>
              <a:t> </a:t>
            </a:r>
            <a:r>
              <a:rPr lang="en-US" altLang="en-US" sz="1800"/>
              <a:t>или</a:t>
            </a:r>
            <a:r>
              <a:rPr lang="ru-RU" altLang="en-US" sz="1800"/>
              <a:t> </a:t>
            </a:r>
            <a:r>
              <a:rPr lang="en-US" altLang="en-US" sz="1800" b="1"/>
              <a:t>screen.свойство</a:t>
            </a:r>
            <a:r>
              <a:rPr lang="ru-RU" altLang="en-US" sz="1800"/>
              <a:t>.</a:t>
            </a:r>
            <a:endParaRPr lang="ru-RU" altLang="en-US" sz="1800"/>
          </a:p>
          <a:p>
            <a:pPr marL="0" indent="0">
              <a:buNone/>
            </a:pPr>
            <a:endParaRPr lang="ru-RU" altLang="en-US" sz="1800"/>
          </a:p>
          <a:p>
            <a:pPr marL="0" indent="0">
              <a:buNone/>
            </a:pPr>
            <a:r>
              <a:rPr lang="en-US" altLang="en-US" sz="1800" b="1"/>
              <a:t>Свойства объекта Screen</a:t>
            </a:r>
            <a:endParaRPr lang="en-US" altLang="en-US" sz="1800" b="1"/>
          </a:p>
          <a:p>
            <a:pPr marL="0" indent="0">
              <a:buNone/>
            </a:pPr>
            <a:endParaRPr lang="en-US" altLang="en-US" sz="1800"/>
          </a:p>
          <a:p>
            <a:r>
              <a:rPr lang="en-US" altLang="en-US" sz="1800" b="1"/>
              <a:t>screen.width</a:t>
            </a:r>
            <a:r>
              <a:rPr lang="en-US" altLang="en-US" sz="1800"/>
              <a:t> - ширина экрана в пикселях;</a:t>
            </a:r>
            <a:endParaRPr lang="en-US" altLang="en-US" sz="1800"/>
          </a:p>
          <a:p>
            <a:r>
              <a:rPr lang="en-US" altLang="en-US" sz="1800" b="1"/>
              <a:t>screen.height</a:t>
            </a:r>
            <a:r>
              <a:rPr lang="en-US" altLang="en-US" sz="1800"/>
              <a:t> - высота экрана в пикселях;</a:t>
            </a:r>
            <a:endParaRPr lang="en-US" altLang="en-US" sz="1800"/>
          </a:p>
          <a:p>
            <a:r>
              <a:rPr lang="en-US" altLang="en-US" sz="1800" b="1"/>
              <a:t>screen.availWidth</a:t>
            </a:r>
            <a:r>
              <a:rPr lang="en-US" altLang="en-US" sz="1800"/>
              <a:t> - доступная ширина экрана в пикселях (как правило, совпадает со screen.width, если вы не перенесли панель задач вправо или влево);</a:t>
            </a:r>
            <a:endParaRPr lang="en-US" altLang="en-US" sz="1800"/>
          </a:p>
          <a:p>
            <a:r>
              <a:rPr lang="en-US" altLang="en-US" sz="1800" b="1"/>
              <a:t>screen.availHeight </a:t>
            </a:r>
            <a:r>
              <a:rPr lang="en-US" altLang="en-US" sz="1800"/>
              <a:t>- высота экрана в пикселях минус высота пользовательских элементов интерфейса (чаще всего панель задач в Windows);</a:t>
            </a:r>
            <a:endParaRPr lang="en-US" altLang="en-US" sz="1800"/>
          </a:p>
          <a:p>
            <a:r>
              <a:rPr lang="en-US" altLang="en-US" sz="1800" b="1"/>
              <a:t>screen.colorDepth</a:t>
            </a:r>
            <a:r>
              <a:rPr lang="en-US" altLang="en-US" sz="1800"/>
              <a:t> - глубина цвета экрана;</a:t>
            </a:r>
            <a:endParaRPr lang="en-US" altLang="en-US" sz="1800"/>
          </a:p>
          <a:p>
            <a:r>
              <a:rPr lang="en-US" altLang="en-US" sz="1800" b="1"/>
              <a:t>screen.pixelDepth</a:t>
            </a:r>
            <a:r>
              <a:rPr lang="en-US" altLang="en-US" sz="1800"/>
              <a:t> - количество битов на пиксель экрана</a:t>
            </a:r>
            <a:endParaRPr lang="en-US" altLang="en-US" sz="1800"/>
          </a:p>
          <a:p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Методов у объекта Screen нет</a:t>
            </a:r>
            <a:r>
              <a:rPr lang="ru-RU" altLang="en-US" sz="1800">
                <a:sym typeface="+mn-ea"/>
              </a:rPr>
              <a:t>.</a:t>
            </a:r>
            <a:endParaRPr lang="ru-RU" altLang="en-US" sz="180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Разрешение экрана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600"/>
              <a:t>&lt;div id="screen-demo" class="test"&gt;&lt;/div&gt;</a:t>
            </a:r>
            <a:endParaRPr lang="en-US" altLang="en-US" sz="2600"/>
          </a:p>
          <a:p>
            <a:pPr marL="0" indent="0">
              <a:buNone/>
            </a:pPr>
            <a:r>
              <a:rPr lang="en-US" altLang="en-US" sz="2600"/>
              <a:t>&lt;script&gt;</a:t>
            </a:r>
            <a:endParaRPr lang="en-US" altLang="en-US" sz="2600"/>
          </a:p>
          <a:p>
            <a:pPr marL="0" indent="0">
              <a:buNone/>
            </a:pPr>
            <a:r>
              <a:rPr lang="en-US" altLang="en-US" sz="2600"/>
              <a:t>document.getElementById("screen-demo").innerHTML =</a:t>
            </a:r>
            <a:endParaRPr lang="en-US" altLang="en-US" sz="2600"/>
          </a:p>
          <a:p>
            <a:pPr marL="0" indent="0">
              <a:buNone/>
            </a:pPr>
            <a:r>
              <a:rPr lang="en-US" altLang="en-US" sz="2600"/>
              <a:t>"Screen availWidth &amp;times; availHeight: " + screen.availWidth  +'&amp;times' + screen.availHeight</a:t>
            </a:r>
            <a:r>
              <a:rPr lang="ru-RU" altLang="en-US" sz="2600"/>
              <a:t> + </a:t>
            </a:r>
            <a:r>
              <a:rPr lang="en-US" altLang="en-US" sz="2600"/>
              <a:t>"&lt;br&gt;Screen colorDepth  &amp;times; pixelDepth : " + screen.colorDepth +'&amp;times' + screen.pixelDepth;</a:t>
            </a:r>
            <a:r>
              <a:rPr lang="en-US" altLang="en-US" sz="2600"/>
              <a:t> </a:t>
            </a:r>
            <a:endParaRPr lang="en-US" altLang="en-US" sz="2600"/>
          </a:p>
          <a:p>
            <a:pPr marL="0" indent="0">
              <a:buNone/>
            </a:pPr>
            <a:r>
              <a:rPr lang="en-US" altLang="en-US" sz="2600"/>
              <a:t>&lt;/script&gt;</a:t>
            </a:r>
            <a:endParaRPr lang="en-US" altLang="en-US"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Практический пример - CSS 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5124450"/>
          </a:xfrm>
        </p:spPr>
        <p:txBody>
          <a:bodyPr/>
          <a:p>
            <a:pPr marL="0" indent="0">
              <a:buNone/>
            </a:pPr>
            <a:r>
              <a:rPr lang="en-US" altLang="en-US" sz="1600"/>
              <a:t>&lt;style&gt;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.test-img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display: inline-block;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width: 300px;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height: 200px;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overflow: hidden;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margin-right: 10px;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border: 2px solid #ccc;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.red-border {border-color: #e51039;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.blue-border {border-color: #2f92e6;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.test-img img { max-width: 100%;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.control { margin: 10px 0;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.bg-modal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position: fixed;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left: 0;  right: 0; top: 0; bottom: 0;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5247005"/>
          </a:xfrm>
        </p:spPr>
        <p:txBody>
          <a:bodyPr/>
          <a:p>
            <a:pPr marL="0" indent="0">
              <a:buNone/>
            </a:pPr>
            <a:r>
              <a:rPr lang="en-US" altLang="en-US" sz="1600">
                <a:sym typeface="+mn-ea"/>
              </a:rPr>
              <a:t>        background-color: rgba(0, 0, 0, 0.65);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display: flex;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justify-content: center;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-ms-align-items: center;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align-items: center;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cursor: pointer;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.bg-modal:before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content: '×';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font-size: 45px;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font-weight: bold;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color: #fff;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display: block;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position: absolute;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top: 20px;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right: 20px;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}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&lt;/style&gt;</a:t>
            </a:r>
            <a:endParaRPr lang="en-US" altLang="en-US" sz="1600"/>
          </a:p>
          <a:p>
            <a:pPr marL="0" indent="0">
              <a:buNone/>
            </a:pPr>
            <a:endParaRPr lang="en-US"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Практический пример - HTML 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5124450"/>
          </a:xfrm>
        </p:spPr>
        <p:txBody>
          <a:bodyPr/>
          <a:p>
            <a:pPr marL="0" indent="0">
              <a:buNone/>
            </a:pPr>
            <a:r>
              <a:rPr lang="en-US" altLang="en-US" sz="1600"/>
              <a:t>&lt;div class="test"&gt;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&lt;a href="https://images.unsplash.com/photo-1496181133206-80ce9b88a853?crop=faces&amp;fit=crop&amp;w=900&amp;h=600" class="test-img"&gt;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&lt;img src="https://images.unsplash.com/photo-1496181133206-80ce9b88a853?crop=faces&amp;fit=crop&amp;w=300&amp;h=200" alt="Notebook"&gt;&lt;/a&gt;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&lt;a href="https://images.unsplash.com/photo-1577590835286-1cdd24c08fd7?crop=faces&amp;fit=crop&amp;w=900&amp;h=600" class="test-img"&gt;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&lt;img src="https://images.unsplash.com/photo-1577590835286-1cdd24c08fd7?crop=faces&amp;fit=crop&amp;w=300&amp;h=200" alt="Coffee"&gt;&lt;/a&gt;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</a:t>
            </a:r>
            <a:endParaRPr lang="en-US" altLang="en-US" sz="160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5247005"/>
          </a:xfrm>
        </p:spPr>
        <p:txBody>
          <a:bodyPr/>
          <a:p>
            <a:pPr marL="0" indent="0">
              <a:buNone/>
            </a:pPr>
            <a:r>
              <a:rPr lang="en-US" altLang="en-US" sz="1600">
                <a:sym typeface="+mn-ea"/>
              </a:rPr>
              <a:t> &lt;a href="https://images.unsplash.com/photo-1586509595512-800193191f79?crop=faces&amp;fit=crop&amp;w=900&amp;h=600" class="test-img"&gt;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&lt;img src="https://images.unsplash.com/photo-1586509595512-800193191f79?crop=faces&amp;fit=crop&amp;w=300&amp;h=200" alt="Milk"&gt;&lt;/a&gt;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&lt;div class="control"&gt;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&lt;button class="button button-primary" onclick="func1()"&gt;Открыть в новом окне&lt;/button&gt;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&lt;button class="button button-dangerous" onclick="func2()"&gt;Открыть в модальном окне&lt;/button&gt;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&lt;/div&gt;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&lt;/div&gt;</a:t>
            </a:r>
            <a:endParaRPr 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Практический пример - HTML 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4918710" cy="5124450"/>
          </a:xfrm>
        </p:spPr>
        <p:txBody>
          <a:bodyPr/>
          <a:p>
            <a:pPr marL="0" indent="0">
              <a:buNone/>
            </a:pPr>
            <a:r>
              <a:rPr lang="en-US" altLang="en-US" sz="1600"/>
              <a:t>let testImg = document.querySelectorAll('.test-img');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function func1()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testImg.forEach(item =&gt;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item.onclick = openImgWindow;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item.classList.remove('red-border');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item.classList.add('blue-border')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})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function func2()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testImg.forEach(item =&gt;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item.onclick = openImgModal;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item.classList.remove('blue-border');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item.classList.add('red-border');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})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}</a:t>
            </a:r>
            <a:endParaRPr lang="en-US" altLang="en-US" sz="160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883275" y="1174750"/>
            <a:ext cx="5699125" cy="5247005"/>
          </a:xfrm>
        </p:spPr>
        <p:txBody>
          <a:bodyPr/>
          <a:p>
            <a:pPr marL="0" indent="0">
              <a:buNone/>
            </a:pPr>
            <a:r>
              <a:rPr lang="en-US" altLang="en-US" sz="1600"/>
              <a:t>let openImgWindow = function()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let w = screen.availWidth / 2;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let h = screen.availHeight / 2;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console.log(w, h);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let newWin = window.open(this.getAttribute('href'), w, h);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newWin.resizeTo(w, h);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return false;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function openImgModal(e)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e.preventDefault();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let modal = document.createElement('div');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modal.className = 'bg-modal';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let img = document.createElement('img');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img.src = this.getAttribute('href');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img.width = screen.availWidth / 2;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modal.append(img);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document.body.append(modal);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modal.onclick = function() {  this.remove();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}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uk-UA" altLang="en-US"/>
              <a:t>О</a:t>
            </a:r>
            <a:r>
              <a:rPr lang="en-US" altLang="en-US"/>
              <a:t>бъект Navigator/</a:t>
            </a:r>
            <a:r>
              <a:rPr lang="uk-UA" altLang="en-US"/>
              <a:t>Свойства</a:t>
            </a:r>
            <a:endParaRPr lang="uk-UA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 b="1"/>
              <a:t>Одним из объектов браузерного окружения является Navigator (</a:t>
            </a:r>
            <a:r>
              <a:rPr lang="en-US" altLang="en-US" sz="1800" b="1"/>
              <a:t>window.navigator, или просто navigator)</a:t>
            </a:r>
            <a:endParaRPr lang="en-US" altLang="en-US" sz="1800" b="1"/>
          </a:p>
          <a:p>
            <a:pPr marL="0" indent="0">
              <a:buNone/>
            </a:pPr>
            <a:endParaRPr lang="en-US" altLang="en-US" sz="1800" b="1"/>
          </a:p>
          <a:p>
            <a:pPr marL="0" indent="0">
              <a:buNone/>
            </a:pPr>
            <a:r>
              <a:rPr lang="ru-RU" altLang="en-US" sz="1800" b="1"/>
              <a:t>Свойства </a:t>
            </a:r>
            <a:r>
              <a:rPr lang="en-US" altLang="en-US" sz="1800" b="1">
                <a:sym typeface="+mn-ea"/>
              </a:rPr>
              <a:t>объект</a:t>
            </a:r>
            <a:r>
              <a:rPr lang="uk-UA" altLang="en-US" sz="1800" b="1">
                <a:sym typeface="+mn-ea"/>
              </a:rPr>
              <a:t>а</a:t>
            </a:r>
            <a:r>
              <a:rPr lang="en-US" altLang="en-US" sz="1800" b="1">
                <a:sym typeface="+mn-ea"/>
              </a:rPr>
              <a:t> Navigator </a:t>
            </a:r>
            <a:endParaRPr lang="en-US" altLang="en-US" sz="1800" b="1"/>
          </a:p>
          <a:p>
            <a:r>
              <a:rPr lang="en-US" altLang="en-US" sz="1800" b="1"/>
              <a:t>appCodeName</a:t>
            </a:r>
            <a:r>
              <a:rPr lang="en-US" altLang="en-US" sz="1800"/>
              <a:t>: содержит внутреннее кодовое имя текущего браузера (не стоит полагаться на это свойство, так как обычно оно возвращает Mozilla).</a:t>
            </a:r>
            <a:endParaRPr lang="en-US" altLang="en-US" sz="1800"/>
          </a:p>
          <a:p>
            <a:r>
              <a:rPr lang="en-US" altLang="en-US" sz="1800" b="1"/>
              <a:t>appName </a:t>
            </a:r>
            <a:r>
              <a:rPr lang="en-US" altLang="en-US" sz="1800" i="1"/>
              <a:t>Устарело</a:t>
            </a:r>
            <a:r>
              <a:rPr lang="en-US" altLang="en-US" sz="1800"/>
              <a:t>. Не для использования на новых веб-сайтах.: содержит официальное имя текущего браузера (ненадежно, поскольку каждый браузер выводит значение Netscape).</a:t>
            </a:r>
            <a:endParaRPr lang="en-US" altLang="en-US" sz="1800"/>
          </a:p>
          <a:p>
            <a:r>
              <a:rPr lang="en-US" altLang="en-US" sz="1800" b="1"/>
              <a:t>appVersion </a:t>
            </a:r>
            <a:r>
              <a:rPr lang="en-US" altLang="en-US" sz="1800" i="1"/>
              <a:t>Устарело</a:t>
            </a:r>
            <a:r>
              <a:rPr lang="en-US" altLang="en-US" sz="1800"/>
              <a:t>. Не для использования на новых веб-сайтах.: содержит номер версии текущего браузера (ненадежно)</a:t>
            </a:r>
            <a:endParaRPr lang="en-US" altLang="en-US" sz="1800"/>
          </a:p>
          <a:p>
            <a:r>
              <a:rPr lang="en-US" altLang="en-US" sz="1800" b="1"/>
              <a:t>battery</a:t>
            </a:r>
            <a:r>
              <a:rPr lang="en-US" altLang="en-US" sz="1800"/>
              <a:t>: представляет объект типа BatteryManager, который позволяет применять Battery Status API для взаимодействия со статусом батареи.</a:t>
            </a:r>
            <a:endParaRPr lang="en-US" altLang="en-US" sz="1800"/>
          </a:p>
          <a:p>
            <a:r>
              <a:rPr lang="en-US" altLang="en-US" sz="1800" b="1"/>
              <a:t>bluetooth </a:t>
            </a:r>
            <a:r>
              <a:rPr lang="en-US" altLang="en-US" sz="1800"/>
              <a:t>- возвращает Bluetoothобъект для текущего документа, предоставляя доступ к функциональным возможностям Web Bluetooth API</a:t>
            </a:r>
            <a:endParaRPr lang="en-US" altLang="en-US" sz="1800"/>
          </a:p>
          <a:p>
            <a:r>
              <a:rPr lang="en-US" altLang="en-US" sz="1800" b="1"/>
              <a:t>cookieEnabled</a:t>
            </a:r>
            <a:r>
              <a:rPr lang="en-US" altLang="en-US" sz="1800"/>
              <a:t>: содержит информацию о том, включены файлы cookie или нет.</a:t>
            </a:r>
            <a:endParaRPr lang="en-US" altLang="en-US" sz="1800"/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Свойства объекта </a:t>
            </a:r>
            <a:r>
              <a:rPr lang="en-US" altLang="ru-RU"/>
              <a:t>Navigator 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800" b="1">
                <a:sym typeface="+mn-ea"/>
              </a:rPr>
              <a:t>language</a:t>
            </a:r>
            <a:r>
              <a:rPr lang="en-US" altLang="en-US" sz="1800">
                <a:sym typeface="+mn-ea"/>
              </a:rPr>
              <a:t>: содержит строку, указывающую предпочтительный язык пользователя. Обычно этот язык также используется в интерфейсе соответствующего браузера. Если предпочтительный язык не может быть определен, это свойство содержит значение null.</a:t>
            </a:r>
            <a:endParaRPr lang="en-US" altLang="en-US" sz="1800"/>
          </a:p>
          <a:p>
            <a:r>
              <a:rPr lang="en-US" altLang="en-US" sz="1800" b="1">
                <a:sym typeface="+mn-ea"/>
              </a:rPr>
              <a:t>languages</a:t>
            </a:r>
            <a:r>
              <a:rPr lang="en-US" altLang="en-US" sz="1800">
                <a:sym typeface="+mn-ea"/>
              </a:rPr>
              <a:t>: содержит список строк, указывающих предпочтительные языки пользователя, причем наиболее предпочтительный язык находится в первой позиции (что соответствует языку из свойства language).</a:t>
            </a:r>
            <a:endParaRPr lang="en-US" altLang="en-US" sz="1800"/>
          </a:p>
          <a:p>
            <a:r>
              <a:rPr lang="en-US" altLang="en-US" sz="1800" b="1">
                <a:sym typeface="+mn-ea"/>
              </a:rPr>
              <a:t>onLine</a:t>
            </a:r>
            <a:r>
              <a:rPr lang="en-US" altLang="en-US" sz="1800">
                <a:sym typeface="+mn-ea"/>
              </a:rPr>
              <a:t>: логическое значение, проверяющее наличие сетевого подключения. Это не обязательно подключение к Интернету!</a:t>
            </a:r>
            <a:endParaRPr lang="en-US" altLang="en-US" sz="1800"/>
          </a:p>
          <a:p>
            <a:r>
              <a:rPr lang="en-US" altLang="en-US" sz="1800" b="1">
                <a:sym typeface="+mn-ea"/>
              </a:rPr>
              <a:t>platform</a:t>
            </a:r>
            <a:r>
              <a:rPr lang="en-US" altLang="en-US" sz="1800">
                <a:sym typeface="+mn-ea"/>
              </a:rPr>
              <a:t>: содержит информацию об используемой операционной системе (ненадежно)</a:t>
            </a:r>
            <a:endParaRPr lang="en-US" altLang="en-US" sz="1800"/>
          </a:p>
          <a:p>
            <a:r>
              <a:rPr lang="en-US" altLang="en-US" sz="1800" b="1">
                <a:sym typeface="+mn-ea"/>
              </a:rPr>
              <a:t>plugins</a:t>
            </a:r>
            <a:r>
              <a:rPr lang="en-US" altLang="en-US" sz="1800">
                <a:sym typeface="+mn-ea"/>
              </a:rPr>
              <a:t>: содержит список плагинов, поддерживаемых браузером.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pdfViewerEnabled: унифицированный метод проверки возможности браузера отображать PDF-файлы</a:t>
            </a:r>
            <a:endParaRPr lang="en-US" altLang="en-US" sz="1800">
              <a:sym typeface="+mn-ea"/>
            </a:endParaRPr>
          </a:p>
          <a:p>
            <a:endParaRPr lang="en-US" altLang="en-US" sz="1800">
              <a:sym typeface="+mn-ea"/>
            </a:endParaRPr>
          </a:p>
          <a:p>
            <a:pPr marL="0" indent="0">
              <a:buNone/>
            </a:pPr>
            <a:r>
              <a:rPr lang="en-US" altLang="en-US" sz="1800">
                <a:latin typeface="Courier New" panose="02070309020205020404" charset="0"/>
                <a:cs typeface="Courier New" panose="02070309020205020404" charset="0"/>
              </a:rPr>
              <a:t>const SPEED = navigator.connection.downlink;</a:t>
            </a:r>
            <a:endParaRPr lang="en-US" altLang="en-US" sz="18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ourier New" panose="02070309020205020404" charset="0"/>
                <a:cs typeface="Courier New" panose="02070309020205020404" charset="0"/>
              </a:rPr>
              <a:t>document.getElementById('speed').textContent = SPEED;</a:t>
            </a:r>
            <a:endParaRPr lang="en-US" altLang="en-US" sz="1800">
              <a:latin typeface="Courier New" panose="02070309020205020404" charset="0"/>
              <a:cs typeface="Courier New" panose="02070309020205020404" charset="0"/>
            </a:endParaRPr>
          </a:p>
          <a:p>
            <a:endParaRPr lang="en-US" sz="180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ym typeface="+mn-ea"/>
              </a:rPr>
              <a:t>Свойства объекта </a:t>
            </a:r>
            <a:r>
              <a:rPr lang="en-US" altLang="ru-RU">
                <a:sym typeface="+mn-ea"/>
              </a:rPr>
              <a:t>Navigator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800" b="1">
                <a:sym typeface="+mn-ea"/>
              </a:rPr>
              <a:t>geolocation</a:t>
            </a:r>
            <a:r>
              <a:rPr lang="en-US" altLang="en-US" sz="1800">
                <a:sym typeface="+mn-ea"/>
              </a:rPr>
              <a:t>: представляет объект типа Geolocation, который позволяет применять Geolocation API для работы с геолокацией (только в https://).</a:t>
            </a:r>
            <a:endParaRPr lang="en-US" altLang="en-US" sz="1800"/>
          </a:p>
          <a:p>
            <a:r>
              <a:rPr lang="en-US" altLang="en-US" sz="1800" b="1">
                <a:sym typeface="+mn-ea"/>
              </a:rPr>
              <a:t>product</a:t>
            </a:r>
            <a:r>
              <a:rPr lang="en-US" altLang="en-US" sz="1800">
                <a:sym typeface="+mn-ea"/>
              </a:rPr>
              <a:t>: содержит название продукта текущего браузера. Однако в целях обратной совместимости в каждом браузере возвращается значение Gecko</a:t>
            </a:r>
            <a:endParaRPr lang="en-US" altLang="en-US" sz="1800"/>
          </a:p>
          <a:p>
            <a:r>
              <a:rPr lang="en-US" altLang="en-US" sz="1800" b="1">
                <a:sym typeface="+mn-ea"/>
              </a:rPr>
              <a:t>productSub</a:t>
            </a:r>
            <a:r>
              <a:rPr lang="en-US" altLang="en-US" sz="1800">
                <a:sym typeface="+mn-ea"/>
              </a:rPr>
              <a:t>: содержит вложенную метку текущего браузера (20030107 или 20100101)..</a:t>
            </a:r>
            <a:endParaRPr lang="en-US" altLang="en-US" sz="1800"/>
          </a:p>
          <a:p>
            <a:r>
              <a:rPr lang="en-US" altLang="en-US" sz="1800" b="1">
                <a:sym typeface="+mn-ea"/>
              </a:rPr>
              <a:t>serviceWorker</a:t>
            </a:r>
            <a:r>
              <a:rPr lang="en-US" altLang="en-US" sz="1800">
                <a:sym typeface="+mn-ea"/>
              </a:rPr>
              <a:t>: представляет объект ServiceWorkerContainer, который позволяет работать с API Service Worker.</a:t>
            </a:r>
            <a:endParaRPr lang="en-US" altLang="en-US" sz="1800"/>
          </a:p>
          <a:p>
            <a:r>
              <a:rPr lang="en-US" altLang="en-US" sz="1800" b="1">
                <a:sym typeface="+mn-ea"/>
              </a:rPr>
              <a:t>userAgent</a:t>
            </a:r>
            <a:r>
              <a:rPr lang="en-US" altLang="en-US" sz="1800">
                <a:sym typeface="+mn-ea"/>
              </a:rPr>
              <a:t>: содержит строку, идентифицирующую используемый браузер (тоже ненадежно).</a:t>
            </a:r>
            <a:endParaRPr lang="en-US" altLang="en-US" sz="1800"/>
          </a:p>
          <a:p>
            <a:r>
              <a:rPr lang="en-US" altLang="en-US" sz="1800" b="1">
                <a:sym typeface="+mn-ea"/>
              </a:rPr>
              <a:t>vendor </a:t>
            </a:r>
            <a:r>
              <a:rPr lang="en-US" altLang="en-US" sz="1800" i="1">
                <a:sym typeface="+mn-ea"/>
              </a:rPr>
              <a:t>Устарело</a:t>
            </a:r>
            <a:r>
              <a:rPr lang="en-US" altLang="en-US" sz="1800">
                <a:sym typeface="+mn-ea"/>
              </a:rPr>
              <a:t>. Не для использования на новых веб-сайтах. : содержит информацию о производителе браузера (одно из значений "Apple Computer, Inc.", "Google Inc." или пустая строка).</a:t>
            </a:r>
            <a:endParaRPr lang="en-US" altLang="en-US" sz="1800"/>
          </a:p>
          <a:p>
            <a:r>
              <a:rPr lang="en-US" altLang="en-US" sz="1800" b="1">
                <a:sym typeface="+mn-ea"/>
              </a:rPr>
              <a:t>vendorSub</a:t>
            </a:r>
            <a:r>
              <a:rPr lang="en-US" altLang="en-US" sz="1800">
                <a:sym typeface="+mn-ea"/>
              </a:rPr>
              <a:t> </a:t>
            </a:r>
            <a:r>
              <a:rPr lang="en-US" altLang="en-US" sz="1800" i="1">
                <a:sym typeface="+mn-ea"/>
              </a:rPr>
              <a:t>Устарело</a:t>
            </a:r>
            <a:r>
              <a:rPr lang="en-US" altLang="en-US" sz="1800">
                <a:sym typeface="+mn-ea"/>
              </a:rPr>
              <a:t>. Не для использования на новых веб-сайтах.: предназначен для получения дополнительной информации о производителе браузера, но всегда содержит пустую строку</a:t>
            </a:r>
            <a:endParaRPr lang="en-US" altLang="en-US" sz="1800"/>
          </a:p>
          <a:p>
            <a:endParaRPr 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/>
              <a:t>Проверка mobile или desktop</a:t>
            </a:r>
            <a:r>
              <a:rPr lang="en-US" altLang="en-US"/>
              <a:t>/</a:t>
            </a:r>
            <a:r>
              <a:rPr lang="ru-RU" altLang="en-US"/>
              <a:t> объект </a:t>
            </a:r>
            <a:r>
              <a:rPr lang="en-US"/>
              <a:t>Navigator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uk-UA" altLang="en-US" sz="2600"/>
              <a:t>И</a:t>
            </a:r>
            <a:r>
              <a:rPr lang="en-US" altLang="en-US" sz="2600"/>
              <a:t>спольз</a:t>
            </a:r>
            <a:r>
              <a:rPr lang="uk-UA" altLang="en-US" sz="2600"/>
              <a:t>уем</a:t>
            </a:r>
            <a:r>
              <a:rPr lang="en-US" altLang="en-US" sz="2600"/>
              <a:t> свойство </a:t>
            </a:r>
            <a:r>
              <a:rPr lang="en-US" altLang="en-US" sz="2600" b="1"/>
              <a:t>navigator.userAgent</a:t>
            </a:r>
            <a:r>
              <a:rPr lang="en-US" altLang="en-US" sz="2600"/>
              <a:t> и регулярные выражения.</a:t>
            </a:r>
            <a:endParaRPr lang="en-US" altLang="en-US" sz="2600"/>
          </a:p>
          <a:p>
            <a:pPr marL="0" indent="0">
              <a:buNone/>
            </a:pPr>
            <a:endParaRPr lang="en-US" altLang="en-US" sz="2600"/>
          </a:p>
          <a:p>
            <a:pPr marL="0" indent="0">
              <a:buNone/>
            </a:pP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&lt;div class="test"&gt;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&lt;p id="outputInfo"&gt;Mobile or Desktop&lt;/p&gt;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&lt;button onclick="outputInfo.textContent = detectDeviceType()"&gt;Check&lt;/button&gt;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&lt;/div&gt;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&lt;script&gt;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const detectDeviceType = () =&gt; /Mobile|Android|iPhone|iPad/i.test(navigator.userAgent) ? 'Mobile' : 'Desktop'; detectDeviceType(); 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&lt;/script&gt;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Определение браузера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23620"/>
            <a:ext cx="10972800" cy="5303520"/>
          </a:xfrm>
        </p:spPr>
        <p:txBody>
          <a:bodyPr/>
          <a:p>
            <a:pPr marL="0" indent="0">
              <a:buNone/>
            </a:pPr>
            <a:r>
              <a:rPr lang="en-US" altLang="en-US" sz="1600"/>
              <a:t>&lt;div class="test"&gt;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&lt;p&gt;Вы используете браузер &lt;b id="nameOfBrowser"&gt;...&lt;/b&gt;&lt;/p&gt;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&lt;p id="navigatorPropValue"&gt;&lt;/p&gt;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&lt;button onclick="nameOfBrowser.innerHTML = getBrowser(); this.style.display='none'"&gt;Узнать&lt;/button&gt;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&lt;/div&gt;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&lt;script&gt;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function getBrowser() {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const ua = navigator.userAgent;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navigatorPropValue.innerHTML = `&lt;p&gt;Значение свойства &lt;b&gt;navigator.userAgent&lt;/b&gt;: ${ua}&lt;/p&gt;`;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if (ua.includes("Firefox/")) return "Firefox";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if (ua.includes("Edg/")) return "Edge";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if (ua.includes("OPR/") || ua.includes("Opera")) return "Opera";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if (ua.includes("YaBrowser/") || ua.includes("Opera")) return "Yandex";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if (ua.includes("Chrome/") &amp;&amp; !ua.includes("Edg/") &amp;&amp; !ua.includes("OPR/")) return "Chrome";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if (ua.includes("Safari/") &amp;&amp; !ua.includes("Chrome")) return "Safari";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if ((ua.includes("MSIE") != -1) || (!document.documentMode == true))	return 'IE';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return "Unknown";</a:t>
            </a:r>
            <a:r>
              <a:rPr lang="ru-RU" altLang="en-US" sz="14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&lt;/script&gt;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Данные о геолокации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6468745" cy="4953000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Для того чтобы узнать вашу геолокацию, нужно, во-первых, иметь https-соединение, а во-вторых, разрешить вашему приложению/сайту/странице доступ к данным о местоположении.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ru-RU" altLang="en-US" sz="2000">
                <a:solidFill>
                  <a:schemeClr val="accent1">
                    <a:lumMod val="75000"/>
                  </a:schemeClr>
                </a:solidFill>
              </a:rPr>
              <a:t>Методы </a:t>
            </a:r>
            <a:r>
              <a:rPr lang="en-US" altLang="ru-RU" sz="2000" b="1">
                <a:solidFill>
                  <a:schemeClr val="accent1">
                    <a:lumMod val="75000"/>
                  </a:schemeClr>
                </a:solidFill>
              </a:rPr>
              <a:t>geolocation</a:t>
            </a:r>
            <a:r>
              <a:rPr lang="en-US" altLang="ru-RU" sz="200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US" altLang="ru-RU" sz="180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sz="1800" b="1"/>
              <a:t>getCurrentPosition(success, error)</a:t>
            </a:r>
            <a:r>
              <a:rPr lang="en-US" altLang="en-US" sz="1800"/>
              <a:t> - определяет текущее местоположение устройства и возвращает GeolocationPositionобъект с данными.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watchPosition(success, error, options)</a:t>
            </a:r>
            <a:r>
              <a:rPr lang="en-US" altLang="en-US" sz="1800"/>
              <a:t> - возвращает longзначение, представляющее вновь созданную функцию обратного вызова, которая будет вызываться при каждом изменении местоположения устройства.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clearWatch()</a:t>
            </a:r>
            <a:r>
              <a:rPr lang="en-US" altLang="en-US" sz="1800"/>
              <a:t> - удаляет определенный обработчик, ранее установленный с помощью watchPosition().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667308" y="1317625"/>
            <a:ext cx="3914775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Метод getCurrentPosition()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99185"/>
            <a:ext cx="5486400" cy="5494655"/>
          </a:xfrm>
        </p:spPr>
        <p:txBody>
          <a:bodyPr/>
          <a:p>
            <a:pPr marL="0" indent="0">
              <a:buNone/>
            </a:pPr>
            <a:r>
              <a:rPr lang="en-US" altLang="en-US" sz="1600" b="1"/>
              <a:t>navigator.geolocation.getCurrentPosition(success, error)</a:t>
            </a:r>
            <a:r>
              <a:rPr lang="en-US" altLang="en-US" sz="1600"/>
              <a:t> получает текущее местоположение пользователя (широту и долготу). Он асинхронный — то есть не возвращает данные сразу, а вызывает функции-обработчики позже, когда данные будут готовы или возникнет ошибка.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800" b="1">
                <a:solidFill>
                  <a:schemeClr val="accent1">
                    <a:lumMod val="75000"/>
                  </a:schemeClr>
                </a:solidFill>
              </a:rPr>
              <a:t>Аргументы:</a:t>
            </a:r>
            <a:endParaRPr lang="en-US" altLang="en-US" sz="1800" b="1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sz="1600" b="1"/>
              <a:t>success() </a:t>
            </a:r>
            <a:r>
              <a:rPr lang="en-US" altLang="en-US" sz="1600"/>
              <a:t>- функция обратного вызова (callback), которая будет вызвана при успешном получении координат. В неё браузер передаёт объект с информацией о позиции.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function success(position) {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console.log(position); }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altLang="en-US" sz="1600"/>
              <a:t>Что внутри </a:t>
            </a:r>
            <a:r>
              <a:rPr lang="en-US" altLang="en-US" sz="1600" b="1"/>
              <a:t>position</a:t>
            </a:r>
            <a:r>
              <a:rPr lang="en-US" altLang="en-US" sz="1600"/>
              <a:t>:</a:t>
            </a:r>
            <a:endParaRPr lang="en-US" altLang="en-US" sz="1600"/>
          </a:p>
          <a:p>
            <a:pPr marL="0" algn="l">
              <a:buClrTx/>
              <a:buSzTx/>
              <a:buFontTx/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position.coords.latitude   // широта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position.coords.longitude  // долгота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position.coords.accuracy  // точность (в метрах)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</a:rPr>
              <a:t>position.timestamp      // метка времени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6830" y="1099185"/>
            <a:ext cx="5508625" cy="5494655"/>
          </a:xfrm>
        </p:spPr>
        <p:txBody>
          <a:bodyPr/>
          <a:p>
            <a:pPr marL="0" indent="0">
              <a:buNone/>
            </a:pPr>
            <a:r>
              <a:rPr lang="en-US" altLang="en-US" sz="1800" b="1"/>
              <a:t>error() </a:t>
            </a:r>
            <a:r>
              <a:rPr lang="en-US" altLang="en-US" sz="1800"/>
              <a:t>- функция обратного вызова, которая вызывается в случае ошибки: например, если пользователь запретил доступ к геолокации или если она недоступна.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function error(err) {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console.warn(`Ошибка (${err.code}): ${err.message}`);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800" b="1"/>
              <a:t>Типы ошибок (в err.code):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 b="1"/>
              <a:t>PERMISSION_DENIED</a:t>
            </a:r>
            <a:r>
              <a:rPr lang="en-US" altLang="en-US" sz="1800"/>
              <a:t> - пользователь запретил доступ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POSITION_UNAVAILABLE</a:t>
            </a:r>
            <a:r>
              <a:rPr lang="en-US" altLang="en-US" sz="1800"/>
              <a:t> - недоступна информация о местоположении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TIMEOUT</a:t>
            </a:r>
            <a:r>
              <a:rPr lang="en-US" altLang="en-US" sz="1800"/>
              <a:t> - превышено время ожидания получения координат</a:t>
            </a:r>
            <a:endParaRPr lang="en-US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>
                <a:latin typeface="Courier New" panose="02070309020205020404" charset="0"/>
                <a:cs typeface="Courier New" panose="02070309020205020404" charset="0"/>
              </a:rPr>
              <a:t>navigator.geolocation.getCurrentPosition(</a:t>
            </a:r>
            <a:endParaRPr lang="en-US" alt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ourier New" panose="02070309020205020404" charset="0"/>
                <a:cs typeface="Courier New" panose="02070309020205020404" charset="0"/>
              </a:rPr>
              <a:t>  function success(position) {</a:t>
            </a:r>
            <a:endParaRPr lang="en-US" alt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ourier New" panose="02070309020205020404" charset="0"/>
                <a:cs typeface="Courier New" panose="02070309020205020404" charset="0"/>
              </a:rPr>
              <a:t>    console.log("Широта:", position.coords.latitude);</a:t>
            </a:r>
            <a:endParaRPr lang="en-US" alt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ourier New" panose="02070309020205020404" charset="0"/>
                <a:cs typeface="Courier New" panose="02070309020205020404" charset="0"/>
              </a:rPr>
              <a:t>    console.log("Долгота:", position.coords.longitude);</a:t>
            </a:r>
            <a:endParaRPr lang="en-US" alt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ourier New" panose="02070309020205020404" charset="0"/>
                <a:cs typeface="Courier New" panose="02070309020205020404" charset="0"/>
              </a:rPr>
              <a:t>  },</a:t>
            </a:r>
            <a:endParaRPr lang="en-US" alt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ourier New" panose="02070309020205020404" charset="0"/>
                <a:cs typeface="Courier New" panose="02070309020205020404" charset="0"/>
              </a:rPr>
              <a:t>  function error(err) {</a:t>
            </a:r>
            <a:endParaRPr lang="en-US" alt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ourier New" panose="02070309020205020404" charset="0"/>
                <a:cs typeface="Courier New" panose="02070309020205020404" charset="0"/>
              </a:rPr>
              <a:t>    console.warn(`Ошибка (${err.code}): ${err.message}`);</a:t>
            </a:r>
            <a:endParaRPr lang="en-US" alt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ourier New" panose="02070309020205020404" charset="0"/>
                <a:cs typeface="Courier New" panose="02070309020205020404" charset="0"/>
              </a:rPr>
              <a:t>  }</a:t>
            </a:r>
            <a:endParaRPr lang="en-US" alt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ourier New" panose="02070309020205020404" charset="0"/>
                <a:cs typeface="Courier New" panose="02070309020205020404" charset="0"/>
              </a:rPr>
              <a:t>);</a:t>
            </a:r>
            <a:endParaRPr lang="en-US" altLang="en-US" sz="2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Настройки геолокации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167745" cy="4953000"/>
          </a:xfrm>
        </p:spPr>
        <p:txBody>
          <a:bodyPr/>
          <a:p>
            <a:pPr marL="0" indent="0">
              <a:buNone/>
            </a:pPr>
            <a:r>
              <a:rPr lang="en-US" altLang="en-US" sz="1600">
                <a:sym typeface="+mn-ea"/>
              </a:rPr>
              <a:t>Для получение данных о геолокации с помощью метода </a:t>
            </a:r>
            <a:r>
              <a:rPr lang="en-US" altLang="en-US" sz="1600" b="1">
                <a:sym typeface="+mn-ea"/>
              </a:rPr>
              <a:t>getCurrentPosition()</a:t>
            </a:r>
            <a:r>
              <a:rPr lang="en-US" altLang="en-US" sz="1600">
                <a:sym typeface="+mn-ea"/>
              </a:rPr>
              <a:t> или </a:t>
            </a:r>
            <a:r>
              <a:rPr lang="en-US" altLang="en-US" sz="1600" b="1">
                <a:sym typeface="+mn-ea"/>
              </a:rPr>
              <a:t>watchPosition()</a:t>
            </a:r>
            <a:r>
              <a:rPr lang="en-US" altLang="en-US" sz="1600">
                <a:sym typeface="+mn-ea"/>
              </a:rPr>
              <a:t>  нужно передать в него ряд параметров: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const options = {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   enableHighAccuracy: false,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   timeout: 8000,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   maximumAge: 0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};</a:t>
            </a:r>
            <a:endParaRPr lang="en-US" altLang="en-US" sz="14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 b="1">
                <a:sym typeface="+mn-ea"/>
              </a:rPr>
              <a:t>Параметры:</a:t>
            </a:r>
            <a:endParaRPr lang="en-US" altLang="en-US" sz="1600" b="1"/>
          </a:p>
          <a:p>
            <a:r>
              <a:rPr lang="en-US" altLang="en-US" sz="1600" b="1">
                <a:sym typeface="+mn-ea"/>
              </a:rPr>
              <a:t>enableHighAccuracy</a:t>
            </a:r>
            <a:r>
              <a:rPr lang="en-US" altLang="en-US" sz="1600">
                <a:sym typeface="+mn-ea"/>
              </a:rPr>
              <a:t>: </a:t>
            </a:r>
            <a:r>
              <a:rPr lang="en-US" altLang="en-US" sz="1600">
                <a:latin typeface="Courier New" panose="02070309020205020404" charset="0"/>
                <a:cs typeface="Courier New" panose="02070309020205020404" charset="0"/>
                <a:sym typeface="+mn-ea"/>
              </a:rPr>
              <a:t>false | true</a:t>
            </a:r>
            <a:r>
              <a:rPr lang="en-US" altLang="en-US" sz="1600">
                <a:sym typeface="+mn-ea"/>
              </a:rPr>
              <a:t> - запрашивает максимально точные координаты, если true (например, GPS на телефоне).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Когда </a:t>
            </a:r>
            <a:r>
              <a:rPr lang="en-US" altLang="en-US" sz="1600">
                <a:latin typeface="Courier New" panose="02070309020205020404" charset="0"/>
                <a:cs typeface="Courier New" panose="02070309020205020404" charset="0"/>
                <a:sym typeface="+mn-ea"/>
              </a:rPr>
              <a:t>false</a:t>
            </a:r>
            <a:r>
              <a:rPr lang="en-US" altLang="en-US" sz="1600">
                <a:sym typeface="+mn-ea"/>
              </a:rPr>
              <a:t>: Используются менее точные, но более быстрые и экономные источники (Wi-Fi, сотовая сеть). Можно сказать, что в случае </a:t>
            </a:r>
            <a:r>
              <a:rPr lang="en-US" altLang="en-US" sz="1600">
                <a:latin typeface="Courier New" panose="02070309020205020404" charset="0"/>
                <a:cs typeface="Courier New" panose="02070309020205020404" charset="0"/>
                <a:sym typeface="+mn-ea"/>
              </a:rPr>
              <a:t>true </a:t>
            </a:r>
            <a:r>
              <a:rPr lang="en-US" altLang="en-US" sz="1600">
                <a:sym typeface="+mn-ea"/>
              </a:rPr>
              <a:t>— точность может быть до нескольких метров, но может занять больше времени и расходует больше энергии. А в случае false — быстрее, но точность ниже.</a:t>
            </a:r>
            <a:endParaRPr lang="en-US" altLang="en-US" sz="1600"/>
          </a:p>
          <a:p>
            <a:r>
              <a:rPr lang="en-US" altLang="en-US" sz="1600" b="1">
                <a:sym typeface="+mn-ea"/>
              </a:rPr>
              <a:t>timeout: 8000</a:t>
            </a:r>
            <a:r>
              <a:rPr lang="en-US" altLang="en-US" sz="1600">
                <a:sym typeface="+mn-ea"/>
              </a:rPr>
              <a:t> - максимальное время в миллисекундах, в течение которого браузер пытается получить координаты. В данном примере: если за 8 секунд координаты не получены — вызывается error().</a:t>
            </a:r>
            <a:endParaRPr lang="en-US" altLang="en-US" sz="1600"/>
          </a:p>
          <a:p>
            <a:r>
              <a:rPr lang="en-US" altLang="en-US" sz="1600" b="1">
                <a:sym typeface="+mn-ea"/>
              </a:rPr>
              <a:t>maximumAge: 0</a:t>
            </a:r>
            <a:r>
              <a:rPr lang="en-US" altLang="en-US" sz="1600">
                <a:sym typeface="+mn-ea"/>
              </a:rPr>
              <a:t> - значение: время (в миллисекундах), которое указывает, насколько старые кэшированные координаты допустимы.</a:t>
            </a:r>
            <a:r>
              <a:rPr lang="ru-RU" altLang="en-US" sz="1600">
                <a:sym typeface="+mn-ea"/>
              </a:rPr>
              <a:t>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0 означает: всегда получать "свежие" данные. Что может быть: maximumAge: 60000 (60 секунд) — браузер может использовать координаты, полученные до минуты назад, если они есть в кеше. maximumAge: Infinity — можно использовать любые закэшированные координаты, даже очень старые.</a:t>
            </a:r>
            <a:endParaRPr lang="en-US" altLang="en-US" sz="1600"/>
          </a:p>
          <a:p>
            <a:pPr marL="0" indent="0">
              <a:buNone/>
            </a:pPr>
            <a:endParaRPr lang="en-US"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uk-UA" altLang="en-US"/>
              <a:t>Сс</a:t>
            </a:r>
            <a:r>
              <a:rPr lang="ru-RU" altLang="uk-UA"/>
              <a:t>ы</a:t>
            </a:r>
            <a:r>
              <a:rPr lang="uk-UA" altLang="en-US"/>
              <a:t>лки</a:t>
            </a:r>
            <a:endParaRPr lang="uk-UA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800"/>
              <a:t>https://developer.mozilla.org/ru/docs/Web/API/Window</a:t>
            </a:r>
            <a:endParaRPr lang="en-US" altLang="en-US" sz="1800"/>
          </a:p>
          <a:p>
            <a:r>
              <a:rPr lang="en-US" altLang="en-US" sz="1800"/>
              <a:t>https://learn.javascript.ru/global-object</a:t>
            </a:r>
            <a:endParaRPr lang="en-US" altLang="en-US" sz="1800"/>
          </a:p>
          <a:p>
            <a:r>
              <a:rPr lang="en-US" altLang="en-US" sz="1800"/>
              <a:t>https://html-plus.in.ua/bom-object-window/</a:t>
            </a:r>
            <a:endParaRPr lang="en-US" altLang="en-US" sz="1800"/>
          </a:p>
          <a:p>
            <a:r>
              <a:rPr lang="en-US" altLang="en-US" sz="1800"/>
              <a:t>https://developer.mozilla.org/ru/docs/Web/API/Location</a:t>
            </a:r>
            <a:endParaRPr lang="en-US" altLang="en-US" sz="1800"/>
          </a:p>
          <a:p>
            <a:r>
              <a:rPr lang="en-US" altLang="en-US" sz="1800"/>
              <a:t>https://html-plus.in.ua/bom-object-location/</a:t>
            </a:r>
            <a:endParaRPr lang="en-US" altLang="en-US" sz="1800"/>
          </a:p>
          <a:p>
            <a:r>
              <a:rPr lang="en-US" altLang="en-US" sz="1800"/>
              <a:t>https://doka.guide/js/window-location/</a:t>
            </a:r>
            <a:endParaRPr lang="en-US" altLang="en-US" sz="1800"/>
          </a:p>
          <a:p>
            <a:r>
              <a:rPr lang="en-US" altLang="en-US" sz="1800"/>
              <a:t>https://html-plus.in.ua/bom-object-history/</a:t>
            </a:r>
            <a:endParaRPr lang="en-US" altLang="en-US" sz="1800"/>
          </a:p>
          <a:p>
            <a:r>
              <a:rPr lang="en-US" altLang="en-US" sz="1800"/>
              <a:t>https://developer.mozilla.org/ru/docs/Web/API/Screen</a:t>
            </a:r>
            <a:endParaRPr lang="en-US" altLang="en-US" sz="1800"/>
          </a:p>
          <a:p>
            <a:r>
              <a:rPr lang="en-US" altLang="en-US" sz="1800"/>
              <a:t>https://html-plus.in.ua/js-bom-obekt-screen/</a:t>
            </a:r>
            <a:endParaRPr lang="en-US" altLang="en-US" sz="1800"/>
          </a:p>
          <a:p>
            <a:r>
              <a:rPr lang="en-US" altLang="en-US" sz="1800"/>
              <a:t>https://developer.mozilla.org/ru/docs/Web/API/Navigator</a:t>
            </a:r>
            <a:endParaRPr lang="en-US" altLang="en-US" sz="1800"/>
          </a:p>
          <a:p>
            <a:r>
              <a:rPr lang="en-US" altLang="en-US" sz="1800"/>
              <a:t>https://html-plus.in.ua/bom-object-navigator/</a:t>
            </a:r>
            <a:endParaRPr lang="en-US" altLang="en-US" sz="1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30*275"/>
  <p:tag name="TABLE_ENDDRAG_RECT" val="42*139*830*275"/>
</p:tagLst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23958</Words>
  <Application>WPS Presentation</Application>
  <PresentationFormat>Widescreen</PresentationFormat>
  <Paragraphs>523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SimSun</vt:lpstr>
      <vt:lpstr>Wingdings</vt:lpstr>
      <vt:lpstr>Microsoft YaHei</vt:lpstr>
      <vt:lpstr>Arial Unicode MS</vt:lpstr>
      <vt:lpstr>Calibri</vt:lpstr>
      <vt:lpstr>Courier New</vt:lpstr>
      <vt:lpstr>Malgun Gothic</vt:lpstr>
      <vt:lpstr>Montserrat</vt:lpstr>
      <vt:lpstr>Communications and Dialogues</vt:lpstr>
      <vt:lpstr>BOM - Browser Object Model</vt:lpstr>
      <vt:lpstr>Объект History</vt:lpstr>
      <vt:lpstr>Объект Location</vt:lpstr>
      <vt:lpstr>Свойства объекта Location</vt:lpstr>
      <vt:lpstr>Методы объекта Location</vt:lpstr>
      <vt:lpstr>Пример с использованием location.assign() </vt:lpstr>
      <vt:lpstr>Объект Window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Методы window.open() и window.close()</vt:lpstr>
      <vt:lpstr>PowerPoint 演示文稿</vt:lpstr>
      <vt:lpstr>Объект Screen</vt:lpstr>
      <vt:lpstr>Разрешение экрана</vt:lpstr>
      <vt:lpstr>Практический пример - CSS </vt:lpstr>
      <vt:lpstr>Практический пример - HTML </vt:lpstr>
      <vt:lpstr>Практический пример - HTML </vt:lpstr>
      <vt:lpstr>Объект Navigator/Свойства</vt:lpstr>
      <vt:lpstr>Свойства объекта Navigator </vt:lpstr>
      <vt:lpstr>Свойства объекта Navigator</vt:lpstr>
      <vt:lpstr>Проверка mobile или desktop/ объект Navigator</vt:lpstr>
      <vt:lpstr>Определение браузера</vt:lpstr>
      <vt:lpstr>Данные о геолокации</vt:lpstr>
      <vt:lpstr>Метод getCurrentPosition()</vt:lpstr>
      <vt:lpstr>PowerPoint 演示文稿</vt:lpstr>
      <vt:lpstr>Настройки геолокации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 - Browser Object Model</dc:title>
  <dc:creator>olena</dc:creator>
  <cp:lastModifiedBy>google1589817604</cp:lastModifiedBy>
  <cp:revision>45</cp:revision>
  <dcterms:created xsi:type="dcterms:W3CDTF">2025-05-24T22:07:00Z</dcterms:created>
  <dcterms:modified xsi:type="dcterms:W3CDTF">2025-06-09T14:41:15Z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0D85CF9B190D48159C91FDCB5E482176_11</vt:lpwstr>
  </property>
  <property fmtid="{D5CDD505-2E9C-101B-9397-08002B2CF9AE}" pid="3" name="KSOProductBuildVer">
    <vt:lpwstr>1033-12.2.0.21179</vt:lpwstr>
  </property>
</Properties>
</file>