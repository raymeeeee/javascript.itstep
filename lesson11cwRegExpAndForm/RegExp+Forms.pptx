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335" r:id="rId4"/>
    <p:sldId id="352" r:id="rId5"/>
    <p:sldId id="339" r:id="rId6"/>
    <p:sldId id="337" r:id="rId7"/>
    <p:sldId id="336" r:id="rId8"/>
    <p:sldId id="354" r:id="rId9"/>
    <p:sldId id="347" r:id="rId10"/>
    <p:sldId id="338" r:id="rId11"/>
    <p:sldId id="353" r:id="rId12"/>
    <p:sldId id="340" r:id="rId13"/>
    <p:sldId id="341" r:id="rId14"/>
    <p:sldId id="342" r:id="rId15"/>
    <p:sldId id="348" r:id="rId16"/>
    <p:sldId id="351" r:id="rId17"/>
    <p:sldId id="350" r:id="rId18"/>
    <p:sldId id="349" r:id="rId19"/>
    <p:sldId id="343" r:id="rId20"/>
    <p:sldId id="258" r:id="rId21"/>
    <p:sldId id="344" r:id="rId22"/>
    <p:sldId id="272" r:id="rId23"/>
    <p:sldId id="273" r:id="rId24"/>
    <p:sldId id="356" r:id="rId25"/>
    <p:sldId id="357" r:id="rId26"/>
    <p:sldId id="260" r:id="rId27"/>
    <p:sldId id="259" r:id="rId28"/>
    <p:sldId id="275" r:id="rId29"/>
    <p:sldId id="345" r:id="rId30"/>
    <p:sldId id="346" r:id="rId31"/>
    <p:sldId id="274" r:id="rId32"/>
    <p:sldId id="269" r:id="rId33"/>
    <p:sldId id="270" r:id="rId34"/>
    <p:sldId id="355" r:id="rId35"/>
    <p:sldId id="262" r:id="rId36"/>
    <p:sldId id="263" r:id="rId37"/>
    <p:sldId id="289" r:id="rId38"/>
    <p:sldId id="267" r:id="rId39"/>
    <p:sldId id="266" r:id="rId40"/>
    <p:sldId id="268" r:id="rId41"/>
    <p:sldId id="264" r:id="rId42"/>
    <p:sldId id="265" r:id="rId43"/>
    <p:sldId id="307" r:id="rId44"/>
    <p:sldId id="309" r:id="rId45"/>
    <p:sldId id="271" r:id="rId46"/>
    <p:sldId id="306" r:id="rId47"/>
    <p:sldId id="276" r:id="rId48"/>
    <p:sldId id="310" r:id="rId49"/>
    <p:sldId id="324" r:id="rId50"/>
    <p:sldId id="311" r:id="rId51"/>
    <p:sldId id="257" r:id="rId52"/>
    <p:sldId id="261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664C608-40B1-4030-A28D-5B74BC98ADC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learn.javascript.ru/regexp-methods" TargetMode="External"/><Relationship Id="rId1" Type="http://schemas.openxmlformats.org/officeDocument/2006/relationships/hyperlink" Target="https://learn.javascript.ru/regexp-groups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www.freeformatter.com/regex-tester.html" TargetMode="External"/><Relationship Id="rId3" Type="http://schemas.openxmlformats.org/officeDocument/2006/relationships/hyperlink" Target="https://regexr.com/" TargetMode="External"/><Relationship Id="rId2" Type="http://schemas.openxmlformats.org/officeDocument/2006/relationships/hyperlink" Target="https://www.regextester.com/" TargetMode="External"/><Relationship Id="rId1" Type="http://schemas.openxmlformats.org/officeDocument/2006/relationships/hyperlink" Target="https://regex101.com/" TargetMode="Externa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youtube.com/watch?v=cXX3O8eyOuQ" TargetMode="External"/><Relationship Id="rId2" Type="http://schemas.openxmlformats.org/officeDocument/2006/relationships/hyperlink" Target="https://www.youtube.com/watch?v=mCWJ1fvosSg" TargetMode="External"/><Relationship Id="rId1" Type="http://schemas.openxmlformats.org/officeDocument/2006/relationships/hyperlink" Target="https://www.youtube.com/watch?v=pSdXUgOLpw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Регулярные выражения в </a:t>
            </a:r>
            <a:r>
              <a:rPr lang="en-US" dirty="0"/>
              <a:t>JavaScript</a:t>
            </a:r>
            <a:endParaRPr lang="en-US" dirty="0"/>
          </a:p>
          <a:p>
            <a:r>
              <a:rPr lang="ru-RU" dirty="0"/>
              <a:t>Использование для валидации форм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7" y="5172497"/>
            <a:ext cx="8534400" cy="1507067"/>
          </a:xfrm>
        </p:spPr>
        <p:txBody>
          <a:bodyPr/>
          <a:p>
            <a:r>
              <a:rPr lang="ru-RU" altLang="en-US">
                <a:sym typeface="+mn-ea"/>
              </a:rPr>
              <a:t>Регулярные выражения 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708025" y="786765"/>
            <a:ext cx="8435975" cy="3950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ru-RU" altLang="en-US">
                <a:sym typeface="+mn-ea"/>
              </a:rPr>
              <a:t>Регулярные выражения </a:t>
            </a:r>
            <a:r>
              <a:rPr lang="en-US" altLang="ru-RU">
                <a:sym typeface="+mn-ea"/>
              </a:rPr>
              <a:t>- </a:t>
            </a:r>
            <a:r>
              <a:rPr lang="en-US">
                <a:sym typeface="+mn-ea"/>
              </a:rPr>
              <a:t>это шаблоны, используемые для сопоставления последовательностей символов в строках. </a:t>
            </a:r>
            <a:r>
              <a:rPr lang="ru-RU" altLang="en-US">
                <a:sym typeface="+mn-ea"/>
              </a:rPr>
              <a:t>Они используются в виде строк или специального объекта </a:t>
            </a:r>
            <a:r>
              <a:rPr lang="en-US" altLang="en-US">
                <a:sym typeface="+mn-ea"/>
              </a:rPr>
              <a:t>RegExp.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Где используются</a:t>
            </a:r>
            <a:r>
              <a:rPr lang="en-US" altLang="en-US">
                <a:sym typeface="+mn-ea"/>
              </a:rPr>
              <a:t>: валидация форм, поиск и замена текста, парсинг данных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RegEx </a:t>
            </a:r>
            <a:r>
              <a:rPr lang="en-US" altLang="en-US">
                <a:sym typeface="+mn-ea"/>
              </a:rPr>
              <a:t>— это язык поиска паттернов внутри текста.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ru-RU" altLang="en-US"/>
          </a:p>
          <a:p>
            <a:pPr marL="0" indent="0">
              <a:buNone/>
            </a:pPr>
            <a:r>
              <a:rPr lang="ru-RU" altLang="en-US"/>
              <a:t>В </a:t>
            </a:r>
            <a:r>
              <a:rPr lang="en-US" altLang="ru-RU"/>
              <a:t>HTML </a:t>
            </a:r>
            <a:r>
              <a:rPr lang="ru-RU" altLang="en-US"/>
              <a:t>в любом текстовом поле также можно использовать атрибут</a:t>
            </a:r>
            <a:r>
              <a:rPr lang="en-US" altLang="ru-RU"/>
              <a:t> </a:t>
            </a:r>
            <a:r>
              <a:rPr lang="en-US" altLang="ru-RU" b="1"/>
              <a:t>pattern</a:t>
            </a:r>
            <a:r>
              <a:rPr lang="ru-RU" altLang="en-US"/>
              <a:t>.</a:t>
            </a:r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Синтаксис: основы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sym typeface="+mn-ea"/>
              </a:rPr>
              <a:t>Л</a:t>
            </a:r>
            <a:r>
              <a:rPr lang="en-US" altLang="en-US">
                <a:solidFill>
                  <a:schemeClr val="tx1"/>
                </a:solidFill>
                <a:sym typeface="+mn-ea"/>
              </a:rPr>
              <a:t>итерал регулярного выражения</a:t>
            </a:r>
            <a:r>
              <a:rPr lang="ru-RU" altLang="en-US">
                <a:solidFill>
                  <a:schemeClr val="tx1"/>
                </a:solidFill>
                <a:sym typeface="+mn-ea"/>
              </a:rPr>
              <a:t>: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ru-RU" altLang="en-US" b="1">
                <a:solidFill>
                  <a:schemeClr val="tx1"/>
                </a:solidFill>
                <a:sym typeface="+mn-ea"/>
              </a:rPr>
              <a:t>var re = /ab+c/</a:t>
            </a:r>
            <a:r>
              <a:rPr lang="en-US" altLang="ru-RU" b="1">
                <a:solidFill>
                  <a:schemeClr val="tx1"/>
                </a:solidFill>
                <a:sym typeface="+mn-ea"/>
              </a:rPr>
              <a:t>ig</a:t>
            </a:r>
            <a:r>
              <a:rPr lang="ru-RU" altLang="en-US" b="1">
                <a:solidFill>
                  <a:schemeClr val="tx1"/>
                </a:solidFill>
                <a:sym typeface="+mn-ea"/>
              </a:rPr>
              <a:t>;</a:t>
            </a:r>
            <a:endParaRPr lang="ru-RU" altLang="en-US" b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  <a:sym typeface="+mn-ea"/>
              </a:rPr>
              <a:t>С помощю конструктора объекта RegExp 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ru-RU" altLang="en-US" b="1">
                <a:solidFill>
                  <a:schemeClr val="tx1"/>
                </a:solidFill>
                <a:sym typeface="+mn-ea"/>
              </a:rPr>
              <a:t>var re = new RegExp("ab+c"</a:t>
            </a:r>
            <a:r>
              <a:rPr lang="en-US" altLang="ru-RU" b="1">
                <a:solidFill>
                  <a:schemeClr val="tx1"/>
                </a:solidFill>
                <a:sym typeface="+mn-ea"/>
              </a:rPr>
              <a:t>, 'ig'</a:t>
            </a:r>
            <a:r>
              <a:rPr lang="ru-RU" altLang="en-US" b="1">
                <a:solidFill>
                  <a:schemeClr val="tx1"/>
                </a:solidFill>
                <a:sym typeface="+mn-ea"/>
              </a:rPr>
              <a:t>);</a:t>
            </a:r>
            <a:endParaRPr lang="ru-RU" altLang="en-US" b="1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endParaRPr lang="ru-RU" altLang="en-US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5125085"/>
            <a:ext cx="10598150" cy="1506855"/>
          </a:xfrm>
        </p:spPr>
        <p:txBody>
          <a:bodyPr/>
          <a:p>
            <a:r>
              <a:rPr lang="en-US"/>
              <a:t>Расширенный поиск с флагами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2854960" cy="415607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Регулярные выражения имеют  опциональны</a:t>
            </a:r>
            <a:r>
              <a:rPr lang="ru-RU" altLang="en-US">
                <a:solidFill>
                  <a:schemeClr val="tx1"/>
                </a:solidFill>
              </a:rPr>
              <a:t>е</a:t>
            </a:r>
            <a:r>
              <a:rPr lang="en-US">
                <a:solidFill>
                  <a:schemeClr val="tx1"/>
                </a:solidFill>
              </a:rPr>
              <a:t> флаг</a:t>
            </a:r>
            <a:r>
              <a:rPr lang="ru-RU" altLang="en-US">
                <a:solidFill>
                  <a:schemeClr val="tx1"/>
                </a:solidFill>
              </a:rPr>
              <a:t>и</a:t>
            </a:r>
            <a:r>
              <a:rPr lang="en-US">
                <a:solidFill>
                  <a:schemeClr val="tx1"/>
                </a:solidFill>
              </a:rPr>
              <a:t>, которые делают возможным глобальный и регистронезависимый поиск. Флаги могут использоваться самостоятельно или вместе в любом порядке, а также могут являться частью регулярного выражения.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5"/>
          <p:cNvGraphicFramePr/>
          <p:nvPr>
            <p:ph sz="half" idx="2"/>
            <p:custDataLst>
              <p:tags r:id="rId1"/>
            </p:custDataLst>
          </p:nvPr>
        </p:nvGraphicFramePr>
        <p:xfrm>
          <a:off x="3973195" y="685800"/>
          <a:ext cx="761682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850"/>
                <a:gridCol w="66579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Флаг</a:t>
                      </a:r>
                      <a:endParaRPr lang="ru-RU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en-US"/>
                        <a:t>Описание</a:t>
                      </a:r>
                      <a:endParaRPr lang="ru-RU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ru-RU"/>
                        <a:t>g</a:t>
                      </a:r>
                      <a:endParaRPr lang="en-US" altLang="ru-RU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глобальный поиск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нечувствительность к регистру</a:t>
                      </a:r>
                      <a:endParaRPr lang="en-US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многострочный режим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/>
        </p:nvSpPr>
        <p:spPr>
          <a:xfrm>
            <a:off x="3973195" y="2710815"/>
            <a:ext cx="7411720" cy="2131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Чтобы использовать флаги в шаблоне регулярного выражения используйте следующий синтаксис: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var re = /pattern/flags;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или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var re = new RegExp("pattern", "flags");</a:t>
            </a:r>
            <a:endParaRPr lang="ru-RU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20" y="5514975"/>
            <a:ext cx="10140950" cy="1240790"/>
          </a:xfrm>
        </p:spPr>
        <p:txBody>
          <a:bodyPr/>
          <a:p>
            <a:r>
              <a:rPr lang="ru-RU" altLang="en-US" sz="3200">
                <a:sym typeface="+mn-ea"/>
              </a:rPr>
              <a:t>Шаблоны выражений</a:t>
            </a:r>
            <a:r>
              <a:rPr lang="en-US" altLang="en-US" sz="3200">
                <a:sym typeface="+mn-ea"/>
              </a:rPr>
              <a:t>/</a:t>
            </a:r>
            <a:r>
              <a:rPr lang="ru-RU" altLang="en-US" sz="3200">
                <a:sym typeface="+mn-ea"/>
              </a:rPr>
              <a:t>Классы символов</a:t>
            </a:r>
            <a:endParaRPr lang="en-US" altLang="en-US" sz="3200">
              <a:sym typeface="+mn-ea"/>
            </a:endParaRPr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1"/>
            </p:custDataLst>
          </p:nvPr>
        </p:nvGraphicFramePr>
        <p:xfrm>
          <a:off x="882015" y="210185"/>
          <a:ext cx="9832340" cy="4173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140"/>
                <a:gridCol w="769620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Выражение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Назначение (что делает)</a:t>
                      </a: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[abc]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из символов a, b или c.</a:t>
                      </a: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[^abc]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символу, кроме a, b или c.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[a-z]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в нижнем регистре a до нижнего регистра z.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[A-Z]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в верхнем регистре a до верхнего регистра Z.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[a-Z]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от нижнего регистра a до верхнего регистра Z.</a:t>
                      </a: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[0-9]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одной цифре от 0 до 9.</a:t>
                      </a:r>
                      <a:endParaRPr lang="en-US"/>
                    </a:p>
                  </a:txBody>
                  <a:tcPr/>
                </a:tc>
              </a:tr>
              <a:tr h="376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[a-z0-9]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одному символу от a до z или от 0 до 9.</a:t>
                      </a: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(x|y)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Любой из вариантов, разделенных символом | (или x, или y)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Объект 2"/>
          <p:cNvSpPr>
            <a:spLocks noGrp="1"/>
          </p:cNvSpPr>
          <p:nvPr/>
        </p:nvSpPr>
        <p:spPr>
          <a:xfrm>
            <a:off x="960755" y="4641215"/>
            <a:ext cx="9906000" cy="1134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uk-UA" alt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лассы отрицательных символов соответствуют любому символу, кроме тех, которые содержатся в скобках. Класс отрицательных символов определяется путем размещения символа каретки (</a:t>
            </a: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^</a:t>
            </a:r>
            <a:r>
              <a:rPr lang="ru-RU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сразу после открывающей скобки, например [^abc]:</a:t>
            </a: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720" y="5514975"/>
            <a:ext cx="10008870" cy="1240790"/>
          </a:xfrm>
        </p:spPr>
        <p:txBody>
          <a:bodyPr/>
          <a:p>
            <a:r>
              <a:rPr altLang="en-US" sz="3200">
                <a:sym typeface="+mn-ea"/>
              </a:rPr>
              <a:t>Предопределенные классы символов</a:t>
            </a:r>
            <a:endParaRPr lang="ru-RU" altLang="en-US" sz="3200">
              <a:sym typeface="+mn-ea"/>
            </a:endParaRPr>
          </a:p>
        </p:txBody>
      </p:sp>
      <p:graphicFrame>
        <p:nvGraphicFramePr>
          <p:cNvPr id="7" name="Content Placeholder 6"/>
          <p:cNvGraphicFramePr/>
          <p:nvPr>
            <p:ph sz="half" idx="2"/>
            <p:custDataLst>
              <p:tags r:id="rId1"/>
            </p:custDataLst>
          </p:nvPr>
        </p:nvGraphicFramePr>
        <p:xfrm>
          <a:off x="948055" y="419100"/>
          <a:ext cx="10013315" cy="5149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510"/>
                <a:gridCol w="7837805"/>
              </a:tblGrid>
              <a:tr h="373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Выражение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Назначение (что делает)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одиночному символу, кроме символа новой строки \n.</a:t>
                      </a:r>
                      <a:endParaRPr lang="en-US"/>
                    </a:p>
                  </a:txBody>
                  <a:tcPr/>
                </a:tc>
              </a:tr>
              <a:tr h="386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цифровому символу. Такой же как [0-9]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нецифровому символу. Такой же как[^0-9]</a:t>
                      </a:r>
                      <a:endParaRPr 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пробела (пробелу, табуляции, новой строке или символу возврата каретки). Такой же как[ \t\n\r]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без пробелов. Такой же как[^ \t\n\r]</a:t>
                      </a:r>
                      <a:endParaRPr 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слова (определяемому как от a до z, от A до Z, от 0 до 9 и знака подчеркивания). Такой же как [a-zA-Z_0-9]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\W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символу, не являющемуся словом. Такой же как[^a-zA-Z_0-9]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Проверка</a:t>
            </a:r>
            <a:r>
              <a:rPr lang="en-US" altLang="ru-RU"/>
              <a:t> (</a:t>
            </a:r>
            <a:r>
              <a:rPr lang="en-US" altLang="en-US"/>
              <a:t>Валидация)</a:t>
            </a:r>
            <a:r>
              <a:rPr lang="ru-RU" altLang="en-US"/>
              <a:t> </a:t>
            </a:r>
            <a:r>
              <a:rPr lang="en-US" altLang="ru-RU"/>
              <a:t>Email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email = "test@example.com";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isEmail = /\S+@\S+\.\S+/.test(email);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 b="1">
                <a:solidFill>
                  <a:schemeClr val="tx1"/>
                </a:solidFill>
                <a:sym typeface="+mn-ea"/>
              </a:rPr>
              <a:t>Проверка онлайн:</a:t>
            </a:r>
            <a:endParaRPr lang="ru-RU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sym typeface="+mn-ea"/>
              </a:rPr>
              <a:t>https://regex101.com/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emailInput = document.querySelector("#email");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emailInput.addEventListener("blur", function() 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const regex = /^[^\s@]+@[^\s@]+\.[^\s@]+$/;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if (!regex.test(emailInput.value)) 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alert("Некорректный email");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});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4487545"/>
            <a:ext cx="9827260" cy="1506855"/>
          </a:xfrm>
        </p:spPr>
        <p:txBody>
          <a:bodyPr/>
          <a:p>
            <a:r>
              <a:rPr lang="ru-RU" altLang="en-US"/>
              <a:t>Пример с атрибутом </a:t>
            </a:r>
            <a:r>
              <a:rPr lang="en-US" altLang="ru-RU"/>
              <a:t>pattern </a:t>
            </a:r>
            <a:r>
              <a:rPr lang="ru-RU" altLang="en-US"/>
              <a:t>в </a:t>
            </a:r>
            <a:r>
              <a:rPr lang="en-US" altLang="ru-RU"/>
              <a:t>HTML</a:t>
            </a:r>
            <a:endParaRPr lang="en-US" alt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Экранирование символов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1495" y="685800"/>
            <a:ext cx="4909820" cy="3615055"/>
          </a:xfrm>
        </p:spPr>
        <p:txBody>
          <a:bodyPr/>
          <a:p>
            <a:pPr marL="0" indent="0">
              <a:buNone/>
            </a:pPr>
            <a:r>
              <a:rPr lang="en-US"/>
              <a:t>Нужно еще помнить о том, что регулярные выражения могут быть совсем не простыми, они могут иметь группы, диапазоны символов или диапазоны количества символов, поэтому часть символов необходимо экранировать с помощью обратного слэша.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Это такие символы: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^ $ . * + ? ( ) [ ] { } |</a:t>
            </a:r>
            <a:r>
              <a:rPr lang="ru-RU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  <a:sym typeface="+mn-ea"/>
              </a:rPr>
              <a:t>\ 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Пример</a:t>
            </a:r>
            <a:r>
              <a:rPr lang="ru-RU" altLang="en-US">
                <a:solidFill>
                  <a:schemeClr val="tx1"/>
                </a:solidFill>
              </a:rPr>
              <a:t> для отслеживания </a:t>
            </a:r>
            <a:r>
              <a:rPr lang="en-US" altLang="en-US">
                <a:solidFill>
                  <a:schemeClr val="tx1"/>
                </a:solidFill>
              </a:rPr>
              <a:t>числа с точкой</a:t>
            </a:r>
            <a:r>
              <a:rPr lang="en-US" altLang="en-US">
                <a:solidFill>
                  <a:schemeClr val="tx1"/>
                </a:solidFill>
              </a:rPr>
              <a:t>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</a:rPr>
              <a:t>const regex = /\d+</a:t>
            </a:r>
            <a:r>
              <a:rPr lang="en-US" altLang="en-US" b="1">
                <a:solidFill>
                  <a:schemeClr val="tx1"/>
                </a:solidFill>
              </a:rPr>
              <a:t>\.\d+/; // числа с точкой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Группировка и альтернативы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</a:rPr>
              <a:t>Группы: (abc) — группирует символы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Альтернативы: a|b — "a или b"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Пример: Проверка телефона</a:t>
            </a:r>
            <a:r>
              <a:rPr lang="ru-RU" altLang="en-US">
                <a:solidFill>
                  <a:schemeClr val="tx1"/>
                </a:solidFill>
              </a:rPr>
              <a:t>: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phoneRegex = /(\+7|8)\d{10}/;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745" y="5780405"/>
            <a:ext cx="8591550" cy="774700"/>
          </a:xfrm>
        </p:spPr>
        <p:txBody>
          <a:bodyPr/>
          <a:p>
            <a:r>
              <a:rPr lang="en-US" sz="3200"/>
              <a:t>Операторы в регулярных выражениях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9855200" cy="117030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/>
              <a:t>Операторы позволяют указать, что регулярное выражение должно начинаться или заканчиваться определенными символами, позволяет выделать их в группы или указывать на то, что символ либо может быть, либо может отсутствовать.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sz="half" idx="2"/>
          </p:nvPr>
        </p:nvGraphicFramePr>
        <p:xfrm>
          <a:off x="823595" y="1988820"/>
          <a:ext cx="991997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330"/>
                <a:gridCol w="84226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Оператор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Назначение 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^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Указывает на начало строки.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$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Указывает на конец строки.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любому символу кроме переноса строки.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(x)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'x' и запоминает это соответствие. Выделяет соответствие в группу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x(?=y)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Соответствует 'x' только если за 'x' следует 'y' (т.н. упреждение). Выделяет соответствие в группу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020097"/>
            <a:ext cx="8534400" cy="1507067"/>
          </a:xfrm>
        </p:spPr>
        <p:txBody>
          <a:bodyPr/>
          <a:p>
            <a:r>
              <a:rPr lang="en-US" altLang="en-US"/>
              <a:t>Оператори повторення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10568940" cy="151320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/>
              <a:t>Довольно часто нам нужно указать, что количество символов не может быть больше или меньше определенного диапазона. В этом случае в фигурных скобках после символа или группы символов мы указываем количество повторений.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Здесь следует отметить, что оператор применяется только к тому символу, который расположен перед ним.</a:t>
            </a:r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89940" y="2714625"/>
          <a:ext cx="9194800" cy="245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145"/>
                <a:gridCol w="4533265"/>
                <a:gridCol w="159639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Оператор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Назначение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Пример</a:t>
                      </a:r>
                      <a:endParaRPr lang="en-US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  {2}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повторяется ровно 2 раза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/>
                        <a:t>\d{2}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/>
                        <a:t> {n}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повторяется ровно n раз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\d{2}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 </a:t>
                      </a:r>
                      <a:r>
                        <a:rPr lang="en-US" sz="1800" b="0" i="0"/>
                        <a:t>{n,m}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повторяется от n до m раз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\d{2,4}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 </a:t>
                      </a:r>
                      <a:r>
                        <a:rPr lang="en-US" sz="1800" b="0" i="0"/>
                        <a:t>{n,}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повторяется не менее n раз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\d{2,}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 </a:t>
                      </a:r>
                      <a:r>
                        <a:rPr lang="en-US" sz="1800" b="0" i="0"/>
                        <a:t>{,m}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повторяется не более m раз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\d{,3}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020097"/>
            <a:ext cx="8534400" cy="1507067"/>
          </a:xfrm>
        </p:spPr>
        <p:txBody>
          <a:bodyPr/>
          <a:p>
            <a:r>
              <a:rPr lang="en-US"/>
              <a:t>Операторы повторения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10568940" cy="151320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altLang="en-US"/>
              <a:t>М</a:t>
            </a:r>
            <a:r>
              <a:rPr lang="en-US"/>
              <a:t>ы можем указать, сколько раз данный символ может встретиться: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1"/>
            </p:custDataLst>
          </p:nvPr>
        </p:nvGraphicFramePr>
        <p:xfrm>
          <a:off x="833120" y="2199005"/>
          <a:ext cx="91948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525"/>
                <a:gridCol w="1812925"/>
                <a:gridCol w="58483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Оператор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Пример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Назначение 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sz="1800" b="0" i="0"/>
                        <a:t>?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{0,1}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Ноль (ни одного) или одно вхождение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sz="1800" b="0" i="0"/>
                        <a:t>*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{0,}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Ноль или более вхождений.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sz="1800" b="0" i="0"/>
                        <a:t>+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{1,}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Одно или более вхождений.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020097"/>
            <a:ext cx="8534400" cy="1507067"/>
          </a:xfrm>
        </p:spPr>
        <p:txBody>
          <a:bodyPr/>
          <a:p>
            <a:r>
              <a:rPr lang="ru-RU" altLang="en-US"/>
              <a:t>Начало и конец строки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10568940" cy="151320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ru-RU" altLang="en-US"/>
              <a:t>М</a:t>
            </a:r>
            <a:r>
              <a:rPr lang="en-US"/>
              <a:t>ы можем указать, </a:t>
            </a:r>
            <a:r>
              <a:rPr lang="ru-RU" altLang="en-US"/>
              <a:t>что определенный символ</a:t>
            </a:r>
            <a:r>
              <a:rPr lang="en-US" altLang="ru-RU"/>
              <a:t>(</a:t>
            </a:r>
            <a:r>
              <a:rPr lang="ru-RU" altLang="en-US"/>
              <a:t>группа символов</a:t>
            </a:r>
            <a:r>
              <a:rPr lang="en-US" altLang="ru-RU"/>
              <a:t>)</a:t>
            </a:r>
            <a:r>
              <a:rPr lang="ru-RU" altLang="en-US"/>
              <a:t> должен быть в начале или в конце строки</a:t>
            </a:r>
            <a:r>
              <a:rPr lang="en-US"/>
              <a:t>:</a:t>
            </a:r>
            <a:endParaRPr 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1"/>
            </p:custDataLst>
          </p:nvPr>
        </p:nvGraphicFramePr>
        <p:xfrm>
          <a:off x="833120" y="2199005"/>
          <a:ext cx="91948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525"/>
                <a:gridCol w="3239770"/>
                <a:gridCol w="44215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Оператор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Пример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Назначение 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4864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altLang="en-US" sz="1800" b="0" i="0"/>
                        <a:t>^</a:t>
                      </a:r>
                      <a:endParaRPr lang="en-US" alt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 </a:t>
                      </a:r>
                      <a:r>
                        <a:rPr lang="en-US" altLang="en-US" sz="1800" b="0" i="0"/>
                        <a:t>^user_\d{2,4}</a:t>
                      </a:r>
                      <a:endParaRPr lang="en-US" alt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Символ начала строки</a:t>
                      </a:r>
                      <a:endParaRPr lang="ru-RU" altLang="en-US" sz="1800" b="0" i="0"/>
                    </a:p>
                  </a:txBody>
                  <a:tcPr marL="0" marR="0" marT="0" marB="0" anchor="ctr" anchorCtr="0"/>
                </a:tc>
              </a:tr>
              <a:tr h="38100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altLang="en-US" sz="1800" b="0" i="0"/>
                        <a:t>$</a:t>
                      </a:r>
                      <a:endParaRPr lang="en-US" altLang="en-US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ru-RU" altLang="en-US" sz="1800" b="0" i="0"/>
                        <a:t> </a:t>
                      </a:r>
                      <a:r>
                        <a:rPr lang="en-US" altLang="en-US" sz="1800" b="0" i="0"/>
                        <a:t>\w+\.</a:t>
                      </a:r>
                      <a:r>
                        <a:rPr lang="en-US" altLang="ru-RU" sz="1800" b="0" i="0"/>
                        <a:t>(jpg|png|webp)$</a:t>
                      </a:r>
                      <a:endParaRPr lang="en-US" altLang="ru-RU" sz="1800" b="0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</a:pPr>
                      <a:r>
                        <a:rPr lang="en-US" sz="1800" b="0" i="0"/>
                        <a:t> </a:t>
                      </a:r>
                      <a:r>
                        <a:rPr lang="ru-RU" altLang="en-US" sz="1800">
                          <a:sym typeface="+mn-ea"/>
                        </a:rPr>
                        <a:t>Символ конца строки</a:t>
                      </a:r>
                      <a:endParaRPr lang="en-US" sz="1800" b="0" i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3610" y="4580890"/>
            <a:ext cx="4938395" cy="1506855"/>
          </a:xfrm>
        </p:spPr>
        <p:txBody>
          <a:bodyPr>
            <a:normAutofit fontScale="90000"/>
          </a:bodyPr>
          <a:p>
            <a:r>
              <a:rPr lang="ru-RU" altLang="en-US"/>
              <a:t>Пример с проверкой в Конце строки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&lt;input type="text"pattern="</a:t>
            </a:r>
            <a:r>
              <a:rPr lang="en-US" altLang="en-US" b="1">
                <a:solidFill>
                  <a:schemeClr val="tx1"/>
                </a:solidFill>
              </a:rPr>
              <a:t>^user_\d{2,4}</a:t>
            </a:r>
            <a:r>
              <a:rPr lang="en-US" altLang="en-US">
                <a:solidFill>
                  <a:schemeClr val="tx1"/>
                </a:solidFill>
              </a:rPr>
              <a:t>" id="loginName" name="loginName" required&gt;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&lt;input type="text"  pattern="</a:t>
            </a:r>
            <a:r>
              <a:rPr lang="en-US" altLang="en-US" b="1">
                <a:solidFill>
                  <a:schemeClr val="tx1"/>
                </a:solidFill>
              </a:rPr>
              <a:t>\w+\.(jpg|png|webp)$</a:t>
            </a:r>
            <a:r>
              <a:rPr lang="en-US" altLang="en-US">
                <a:solidFill>
                  <a:schemeClr val="tx1"/>
                </a:solidFill>
              </a:rPr>
              <a:t>" id="picName" name="picName" required&gt;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683895" y="4580890"/>
            <a:ext cx="4938395" cy="150685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altLang="en-US"/>
              <a:t>Пример с проверкой в начале строки</a:t>
            </a:r>
            <a:endParaRPr lang="ru-RU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067722"/>
            <a:ext cx="8534400" cy="1507067"/>
          </a:xfrm>
        </p:spPr>
        <p:txBody>
          <a:bodyPr>
            <a:normAutofit fontScale="90000"/>
          </a:bodyPr>
          <a:p>
            <a:r>
              <a:rPr lang="ru-RU" altLang="en-US"/>
              <a:t>Пример с вводом логина Твиттер (сеть </a:t>
            </a:r>
            <a:r>
              <a:rPr lang="en-US" altLang="en-US"/>
              <a:t>X), </a:t>
            </a:r>
            <a:r>
              <a:rPr lang="ru-RU" altLang="en-US"/>
              <a:t>начинающегося с </a:t>
            </a:r>
            <a:r>
              <a:rPr lang="en-US" altLang="en-US"/>
              <a:t>@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4937760" cy="4099560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&lt;form class="test" name="twitVal"&gt;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&lt;label for="twitName"&gt;Введите логин из 1-15 символов, начиная с символа @:&lt;/label&gt;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&lt;p&gt;&lt;input type="text" pattern="^@[A-Za-z0-9_]{1,15}$" id="twitName" required&gt;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&lt;input type="submit" value="Проверить" id="twitBtn"&gt;&lt;/p&gt;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&lt;p&gt;&lt;input type="text" pattern="^@[\w]{1,15}$" id="twitName2"&gt;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&lt;input type="submit" value="Проверить" id="twitBtn2"&gt;&lt;/p&gt;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&lt;span id="twitOutput" class="valid"&gt;&lt;/span&gt;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&lt;/form&gt;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345" y="685800"/>
            <a:ext cx="4934585" cy="416560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&lt;script&gt;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document.twitVal.onsubmit= function(){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twitOutput.textContent = "Спасибо, все верно";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return false;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twitBtn.onclick=function() { twitOutput.textContent = "";}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twitBtn2.onclick=function() { twitOutput.textContent = "";}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&lt;/script&gt;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991522"/>
            <a:ext cx="8534400" cy="1507067"/>
          </a:xfrm>
        </p:spPr>
        <p:txBody>
          <a:bodyPr/>
          <a:p>
            <a:r>
              <a:rPr lang="ru-RU" altLang="en-US"/>
              <a:t>Пример с проверкой соответствия 16-ричному цвету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&lt;form name="colorVal"&gt;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&lt;label for="color"&gt;Введите цвет вида #34af56:&lt;/label&gt;&lt;br&gt;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&lt;input type="text" id="color" pattern="^#+([a-fA-F0-9]{6}|[a-fA-F0-9]{3})$"&gt;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&lt;input type="submit" value="Проверить" id="colorBtn"&gt;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&lt;span id="colorOutput" class="valid"&gt;&lt;/span&gt;&lt;span id="colorBlock"&gt;&lt;/span&gt;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&lt;/form&gt;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&lt;script&gt;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document.colorVal.onsubmit= function(){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colorOutput.textContent = "Спасибо, ваш цвет: ";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colorBlock.style.backgroundColor = this.color.value;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return false;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colorBtn.onclick=function() { colorOutput.textContent = "";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colorBlock.style.backgroundColor = '';}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&lt;/script&gt;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895" y="5285740"/>
            <a:ext cx="10274300" cy="1079500"/>
          </a:xfrm>
        </p:spPr>
        <p:txBody>
          <a:bodyPr/>
          <a:p>
            <a:r>
              <a:rPr lang="en-US" altLang="en-US"/>
              <a:t>Методи для регулярних виразів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8665" y="685800"/>
            <a:ext cx="9994265" cy="4599940"/>
          </a:xfrm>
        </p:spPr>
        <p:txBody>
          <a:bodyPr>
            <a:normAutofit fontScale="90000"/>
          </a:bodyPr>
          <a:p>
            <a:r>
              <a:rPr lang="en-US" b="1">
                <a:sym typeface="+mn-ea"/>
              </a:rPr>
              <a:t>exec</a:t>
            </a:r>
            <a:r>
              <a:rPr lang="ru-RU" altLang="en-US" b="1">
                <a:sym typeface="+mn-ea"/>
              </a:rPr>
              <a:t>()</a:t>
            </a:r>
            <a:r>
              <a:rPr lang="en-US" b="1">
                <a:sym typeface="+mn-ea"/>
              </a:rPr>
              <a:t> </a:t>
            </a:r>
            <a:r>
              <a:rPr lang="ru-RU" altLang="en-US" b="1">
                <a:sym typeface="+mn-ea"/>
              </a:rPr>
              <a:t>- </a:t>
            </a:r>
            <a:r>
              <a:rPr lang="en-US">
                <a:sym typeface="+mn-ea"/>
              </a:rPr>
              <a:t>Метод RegExp, который выполняет поиск совпадения в  строке. Он возвращает массив данных.</a:t>
            </a:r>
            <a:endParaRPr lang="en-US"/>
          </a:p>
          <a:p>
            <a:r>
              <a:rPr lang="en-US" b="1">
                <a:sym typeface="+mn-ea"/>
              </a:rPr>
              <a:t>test</a:t>
            </a:r>
            <a:r>
              <a:rPr lang="ru-RU" altLang="en-US" b="1">
                <a:sym typeface="+mn-ea"/>
              </a:rPr>
              <a:t>() </a:t>
            </a:r>
            <a:r>
              <a:rPr lang="ru-RU" altLang="en-US">
                <a:sym typeface="+mn-ea"/>
              </a:rPr>
              <a:t>-</a:t>
            </a:r>
            <a:r>
              <a:rPr lang="en-US">
                <a:sym typeface="+mn-ea"/>
              </a:rPr>
              <a:t>  Метод RegExp, который тестирует совпадение в строке. Возвращет либо истину либо ложь.</a:t>
            </a:r>
            <a:endParaRPr lang="en-US"/>
          </a:p>
          <a:p>
            <a:r>
              <a:rPr lang="en-US" b="1">
                <a:sym typeface="+mn-ea"/>
              </a:rPr>
              <a:t>match</a:t>
            </a:r>
            <a:r>
              <a:rPr lang="ru-RU" altLang="en-US" b="1">
                <a:sym typeface="+mn-ea"/>
              </a:rPr>
              <a:t>()</a:t>
            </a:r>
            <a:r>
              <a:rPr lang="en-US">
                <a:sym typeface="+mn-ea"/>
              </a:rPr>
              <a:t> </a:t>
            </a:r>
            <a:r>
              <a:rPr lang="ru-RU" altLang="en-US">
                <a:sym typeface="+mn-ea"/>
              </a:rPr>
              <a:t>- </a:t>
            </a:r>
            <a:r>
              <a:rPr lang="en-US">
                <a:sym typeface="+mn-ea"/>
              </a:rPr>
              <a:t>Метод String, который выполняет поиск совпадения в строке. Он возвращет массив данных либо null если совпадения отсутствуют.</a:t>
            </a:r>
            <a:endParaRPr lang="en-US"/>
          </a:p>
          <a:p>
            <a:r>
              <a:rPr lang="en-US" b="1">
                <a:sym typeface="+mn-ea"/>
              </a:rPr>
              <a:t>search</a:t>
            </a:r>
            <a:r>
              <a:rPr lang="ru-RU" altLang="en-US" b="1">
                <a:sym typeface="+mn-ea"/>
              </a:rPr>
              <a:t>()</a:t>
            </a:r>
            <a:r>
              <a:rPr lang="en-US" b="1">
                <a:sym typeface="+mn-ea"/>
              </a:rPr>
              <a:t> </a:t>
            </a:r>
            <a:r>
              <a:rPr lang="ru-RU" altLang="en-US">
                <a:sym typeface="+mn-ea"/>
              </a:rPr>
              <a:t>- </a:t>
            </a:r>
            <a:r>
              <a:rPr lang="en-US">
                <a:sym typeface="+mn-ea"/>
              </a:rPr>
              <a:t>Метод String, который тестирует на совпадение в строке. Он возвращет индекс совпадения, или -1 если совпадений не будет найдено.</a:t>
            </a:r>
            <a:endParaRPr lang="en-US"/>
          </a:p>
          <a:p>
            <a:r>
              <a:rPr lang="en-US" b="1">
                <a:sym typeface="+mn-ea"/>
              </a:rPr>
              <a:t>replace</a:t>
            </a:r>
            <a:r>
              <a:rPr lang="ru-RU" altLang="en-US" b="1">
                <a:sym typeface="+mn-ea"/>
              </a:rPr>
              <a:t>()</a:t>
            </a:r>
            <a:r>
              <a:rPr lang="ru-RU" altLang="en-US">
                <a:sym typeface="+mn-ea"/>
              </a:rPr>
              <a:t> - </a:t>
            </a:r>
            <a:r>
              <a:rPr lang="en-US">
                <a:sym typeface="+mn-ea"/>
              </a:rPr>
              <a:t>Метод String, который выполняет поиск совпадения в строке, и заменяет совпавшую подстроку другой подстрокой переданной как аргумент в этот метод.</a:t>
            </a:r>
            <a:endParaRPr lang="en-US"/>
          </a:p>
          <a:p>
            <a:r>
              <a:rPr lang="en-US" b="1">
                <a:sym typeface="+mn-ea"/>
              </a:rPr>
              <a:t>split</a:t>
            </a:r>
            <a:r>
              <a:rPr lang="ru-RU" altLang="en-US" b="1">
                <a:sym typeface="+mn-ea"/>
              </a:rPr>
              <a:t>()</a:t>
            </a:r>
            <a:r>
              <a:rPr lang="ru-RU" altLang="en-US">
                <a:sym typeface="+mn-ea"/>
              </a:rPr>
              <a:t> - </a:t>
            </a:r>
            <a:r>
              <a:rPr lang="en-US">
                <a:sym typeface="+mn-ea"/>
              </a:rPr>
              <a:t>Метод String, который использует регулярное выражение или фиксированую строку чтобы разбить строку на массив подстрок.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276850"/>
            <a:ext cx="8534400" cy="1193799"/>
          </a:xfrm>
        </p:spPr>
        <p:txBody>
          <a:bodyPr>
            <a:normAutofit/>
          </a:bodyPr>
          <a:lstStyle/>
          <a:p>
            <a:r>
              <a:rPr lang="ru-RU" dirty="0"/>
              <a:t>Метод </a:t>
            </a:r>
            <a:r>
              <a:rPr lang="en-US" dirty="0" err="1"/>
              <a:t>STRING.match</a:t>
            </a:r>
            <a:r>
              <a:rPr lang="en-US" dirty="0"/>
              <a:t>(</a:t>
            </a:r>
            <a:r>
              <a:rPr lang="en-US" dirty="0" err="1"/>
              <a:t>ReGEXP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799"/>
            <a:ext cx="8534400" cy="45053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str.match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ищет совпадения с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в строке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него есть три режима работы: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Если у регулярного выражения нет флага 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g, то он возвращает первое совпадение в виде массива со скобочными группами и свойствами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(позиция совпадения),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(строка поиска, равна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str = "I love JavaScript";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result =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str.match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(/Java(Script)/);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result[0] ); // JavaScript (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всё совпадение)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result[1] ); // Script (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первые скобки)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result.length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); // 2 // 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Дополнительная информация: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result.index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); // 7 (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позиция совпадения)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result.input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); // I love JavaScript (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исходная строка)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9590"/>
            <a:ext cx="65" cy="41801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39656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45" y="4925060"/>
            <a:ext cx="5424805" cy="1506855"/>
          </a:xfrm>
        </p:spPr>
        <p:txBody>
          <a:bodyPr/>
          <a:p>
            <a:r>
              <a:rPr lang="ru-RU" altLang="en-US">
                <a:sym typeface="+mn-ea"/>
              </a:rPr>
              <a:t>Метод </a:t>
            </a:r>
            <a:r>
              <a:rPr lang="en-US">
                <a:sym typeface="+mn-ea"/>
              </a:rPr>
              <a:t>str.match(regexp)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4333240" cy="3615055"/>
          </a:xfrm>
        </p:spPr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Метод match() возвращает получившиеся совпадения при сопоставлении строки с регулярным выражением.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630" y="562610"/>
            <a:ext cx="6637020" cy="5602605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>
                <a:sym typeface="+mn-ea"/>
              </a:rPr>
              <a:t>var str = 'Глава 3.4.5.1 содержит дополнительную информацию';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var re = /(глава \d+(\.\d)*)/i;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var found = str.match(re);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console.log(found);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выведет [ 'Глава 3.4.5.1', 'Глава 3.4.5.1',  '.1', index: 0,  input: 'Глава 3.4.5.1 содержит дополнительную информацию' ]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'Глава 3.4.5.1' - это первое сопоставление и первое значение,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сопоставленное с группой `(Глава \d+(\.\d)*)`.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'.1' - это последнее значение, сопоставленное с группой `(\.\d)`.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Свойство 'index' содержит значение (0) индекса совпадения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относительно начала сопоставления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// Свойство 'input' содержит значение введенной строки.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276850"/>
            <a:ext cx="8534400" cy="1193799"/>
          </a:xfrm>
        </p:spPr>
        <p:txBody>
          <a:bodyPr>
            <a:normAutofit/>
          </a:bodyPr>
          <a:lstStyle/>
          <a:p>
            <a:r>
              <a:rPr lang="ru-RU" dirty="0"/>
              <a:t>Метод </a:t>
            </a:r>
            <a:r>
              <a:rPr lang="en-US" dirty="0" err="1"/>
              <a:t>STRING.match</a:t>
            </a:r>
            <a:r>
              <a:rPr lang="en-US" dirty="0"/>
              <a:t>(</a:t>
            </a:r>
            <a:r>
              <a:rPr lang="en-US" dirty="0" err="1"/>
              <a:t>ReGEXP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799"/>
            <a:ext cx="8534400" cy="450532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str.match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ищет совпадения с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в строке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него есть три режима работы: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Если у регулярного выражения есть флаг g, то он возвращает массив всех совпадений, без скобочных групп и других деталей.</a:t>
            </a:r>
            <a:endParaRPr lang="ru-RU" altLang="ru-RU" sz="20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str = "I love JavaScript";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result =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str.match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(/Java(Script)/g);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result[0] ); // JavaScript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result.length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); // 1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строка)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19590"/>
            <a:ext cx="65" cy="41801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39656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276850"/>
            <a:ext cx="8534400" cy="1193799"/>
          </a:xfrm>
        </p:spPr>
        <p:txBody>
          <a:bodyPr>
            <a:normAutofit/>
          </a:bodyPr>
          <a:lstStyle/>
          <a:p>
            <a:r>
              <a:rPr lang="ru-RU" dirty="0"/>
              <a:t>Метод </a:t>
            </a:r>
            <a:r>
              <a:rPr lang="en-US" dirty="0" err="1"/>
              <a:t>STRING.match</a:t>
            </a:r>
            <a:r>
              <a:rPr lang="en-US" dirty="0"/>
              <a:t>(</a:t>
            </a:r>
            <a:r>
              <a:rPr lang="en-US" dirty="0" err="1"/>
              <a:t>ReGEXP</a:t>
            </a:r>
            <a:r>
              <a:rPr lang="en-US" dirty="0"/>
              <a:t>)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799"/>
            <a:ext cx="8534400" cy="4505325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str.match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ищет совпадения с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regexp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в строке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него есть три режима работы: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ru-RU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ru-RU" sz="20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Если совпадений нет, то, вне зависимости от наличия флага 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g, возвращается 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str = "I love JavaScript";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let result = 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str.match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(/HTML/);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alert(result); // null </a:t>
            </a:r>
            <a:endParaRPr lang="en-US" b="0" i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alert(</a:t>
            </a:r>
            <a:r>
              <a:rPr lang="en-US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result.length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); // 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Ошибка: у 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null </a:t>
            </a:r>
            <a:r>
              <a:rPr lang="ru-RU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нет свойства 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length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BlinkMacSystemFon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ru-RU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Поиск всех ссылок на странице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text = document.body.innerHTML;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links = text.match(/\"(http:\/\/|https:\/\/\S+)\"/gi);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console.log(links);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Вывод: </a:t>
            </a:r>
            <a:r>
              <a:rPr lang="" altLang="en-US">
                <a:solidFill>
                  <a:schemeClr val="tx1"/>
                </a:solidFill>
              </a:rPr>
              <a:t> </a:t>
            </a:r>
            <a:r>
              <a:rPr lang="en-US" altLang="en-US">
                <a:solidFill>
                  <a:schemeClr val="tx1"/>
                </a:solidFill>
              </a:rPr>
              <a:t>['"https://picsart.com/ru/"', '"https://regex101.com"', '"https://google.com.ua"', '"https://html-plus.in.ua/regular-expression-syntax/"', '"https://www.phpliveregex.com/"']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замена текста в виде ссылок в элементе на ссылки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&lt;div id="linkTest"&gt;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  </a:t>
            </a:r>
            <a:r>
              <a:rPr lang="en-US" altLang="en-US">
                <a:solidFill>
                  <a:schemeClr val="tx1"/>
                </a:solidFill>
              </a:rPr>
              <a:t>&lt;h3&gt;Column 1&lt;/h3&gt;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&lt;p&gt;Lorem ipsum dolor sit amet consectetur adipisicing elit. Temporibus cum facilis quibusdam id suscipit https://picsart.com/ru/. This is AI Pixart, illum deserunt sed assumenda architecto possimus, laudantium quisquam tempore officia magni? Labore alias similique vel aliquam!&lt;/p&gt;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&lt;p&gt;See at https://regex101.com&lt;/p&gt;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&lt;/div&gt;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let linkTest = document.getElementById('linkTest');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urlPattern = /(\b(https?|ftp|file):\/\/[-A-Z0-9+&amp;@#/%=~_|$?!:,.]*)/gi;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urls = </a:t>
            </a:r>
            <a:r>
              <a:rPr lang="en-US" altLang="en-US" b="1">
                <a:solidFill>
                  <a:schemeClr val="tx1"/>
                </a:solidFill>
              </a:rPr>
              <a:t>linkTest.innerHTML.match(urlPattern);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console.log(urls)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linkify = linkTest.innerHTML.</a:t>
            </a:r>
            <a:r>
              <a:rPr lang="en-US" altLang="en-US" b="1">
                <a:solidFill>
                  <a:schemeClr val="tx1"/>
                </a:solidFill>
              </a:rPr>
              <a:t>replace(urlPattern, '&lt;a href="$1" target="_blank"&gt;$1&lt;/a&gt;');</a:t>
            </a:r>
            <a:endParaRPr lang="en-US" altLang="en-US" b="1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linkTest.innerHTML = linkify;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tx2">
                <a:lumMod val="40000"/>
                <a:lumOff val="6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009846"/>
            <a:ext cx="8534400" cy="1507067"/>
          </a:xfrm>
        </p:spPr>
        <p:txBody>
          <a:bodyPr/>
          <a:lstStyle/>
          <a:p>
            <a:r>
              <a:rPr lang="ru-RU" dirty="0"/>
              <a:t>Проверка </a:t>
            </a:r>
            <a:r>
              <a:rPr lang="en-US" dirty="0"/>
              <a:t>email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800"/>
            <a:ext cx="10288588" cy="36152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const emails= ["mila.terinova.87@gmail.com", "ivanov_mike@yandex.ru", "mix@my-site.com.ua"];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</a:rPr>
              <a:t>emails.forEach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one_email</a:t>
            </a:r>
            <a:r>
              <a:rPr lang="en-US" dirty="0">
                <a:solidFill>
                  <a:schemeClr val="bg1"/>
                </a:solidFill>
              </a:rPr>
              <a:t> =&gt; console.log(check(</a:t>
            </a:r>
            <a:r>
              <a:rPr lang="en-US" dirty="0" err="1">
                <a:solidFill>
                  <a:schemeClr val="bg1"/>
                </a:solidFill>
              </a:rPr>
              <a:t>one_email</a:t>
            </a:r>
            <a:r>
              <a:rPr lang="en-US" dirty="0">
                <a:solidFill>
                  <a:schemeClr val="bg1"/>
                </a:solidFill>
              </a:rPr>
              <a:t>))) //true  null false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function check(email) {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let </a:t>
            </a:r>
            <a:r>
              <a:rPr lang="en-US" dirty="0" err="1">
                <a:solidFill>
                  <a:schemeClr val="bg1"/>
                </a:solidFill>
              </a:rPr>
              <a:t>emailRE</a:t>
            </a:r>
            <a:r>
              <a:rPr lang="en-US" dirty="0">
                <a:solidFill>
                  <a:schemeClr val="bg1"/>
                </a:solidFill>
              </a:rPr>
              <a:t> = /^([-_a-zA-Z0-9\.]){3,}@[a-z-_0-9]*\.[a-z]{2,7}$/;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//let emailRE2 = /^([-_a-zA-Z0-9\.]){3,}@[a-z-_0-9]*(\.[a-z]{2,7}){1,2}$/;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console.log(</a:t>
            </a:r>
            <a:r>
              <a:rPr lang="en-US" dirty="0" err="1">
                <a:solidFill>
                  <a:schemeClr val="bg1"/>
                </a:solidFill>
              </a:rPr>
              <a:t>email.match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emailRE</a:t>
            </a:r>
            <a:r>
              <a:rPr lang="en-US" dirty="0">
                <a:solidFill>
                  <a:schemeClr val="bg1"/>
                </a:solidFill>
              </a:rPr>
              <a:t>));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if (</a:t>
            </a:r>
            <a:r>
              <a:rPr lang="en-US" dirty="0" err="1">
                <a:solidFill>
                  <a:schemeClr val="bg1"/>
                </a:solidFill>
              </a:rPr>
              <a:t>email.match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emailRE</a:t>
            </a:r>
            <a:r>
              <a:rPr lang="en-US" dirty="0">
                <a:solidFill>
                  <a:schemeClr val="bg1"/>
                </a:solidFill>
              </a:rPr>
              <a:t>))    return true;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else  return false;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Вывод: выражение не является универсальным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 </a:t>
            </a:r>
            <a:r>
              <a:rPr lang="en-US" dirty="0" err="1"/>
              <a:t>STRING.match</a:t>
            </a:r>
            <a:r>
              <a:rPr lang="en-US" dirty="0"/>
              <a:t>(</a:t>
            </a:r>
            <a:r>
              <a:rPr lang="en-US" dirty="0" err="1"/>
              <a:t>ReGEXP</a:t>
            </a:r>
            <a:r>
              <a:rPr lang="en-US" dirty="0"/>
              <a:t>) </a:t>
            </a:r>
            <a:br>
              <a:rPr lang="en-US" dirty="0"/>
            </a:br>
            <a:r>
              <a:rPr lang="ru-RU" dirty="0"/>
              <a:t>Пример: получаем расширение файла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reExtension</a:t>
            </a:r>
            <a:r>
              <a:rPr lang="en-US" dirty="0"/>
              <a:t>  = /\.([a-z]*)$/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photoData</a:t>
            </a:r>
            <a:r>
              <a:rPr lang="en-US" dirty="0"/>
              <a:t> = '</a:t>
            </a:r>
            <a:r>
              <a:rPr lang="en-US" dirty="0" err="1"/>
              <a:t>photo.jpg'.match</a:t>
            </a:r>
            <a:r>
              <a:rPr lang="en-US" dirty="0"/>
              <a:t>(</a:t>
            </a:r>
            <a:r>
              <a:rPr lang="en-US" dirty="0" err="1"/>
              <a:t>reExtension</a:t>
            </a:r>
            <a:r>
              <a:rPr lang="en-US" dirty="0"/>
              <a:t>);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pptxData</a:t>
            </a:r>
            <a:r>
              <a:rPr lang="en-US" dirty="0"/>
              <a:t> = 'My </a:t>
            </a:r>
            <a:r>
              <a:rPr lang="en-US" dirty="0" err="1"/>
              <a:t>Best.Presentation.pptx'.match</a:t>
            </a:r>
            <a:r>
              <a:rPr lang="en-US" dirty="0"/>
              <a:t>(</a:t>
            </a:r>
            <a:r>
              <a:rPr lang="en-US" dirty="0" err="1"/>
              <a:t>reExtension</a:t>
            </a:r>
            <a:r>
              <a:rPr lang="en-US" dirty="0"/>
              <a:t>);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psdData</a:t>
            </a:r>
            <a:r>
              <a:rPr lang="en-US" dirty="0"/>
              <a:t> = 'New-</a:t>
            </a:r>
            <a:r>
              <a:rPr lang="en-US" dirty="0" err="1"/>
              <a:t>Layout.PSD'.match</a:t>
            </a:r>
            <a:r>
              <a:rPr lang="en-US" dirty="0"/>
              <a:t>(</a:t>
            </a:r>
            <a:r>
              <a:rPr lang="en-US" dirty="0" err="1"/>
              <a:t>reExtension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photoData</a:t>
            </a:r>
            <a:r>
              <a:rPr lang="en-US" dirty="0"/>
              <a:t>, </a:t>
            </a:r>
            <a:r>
              <a:rPr lang="en-US" dirty="0" err="1"/>
              <a:t>pptxData</a:t>
            </a:r>
            <a:r>
              <a:rPr lang="en-US" dirty="0"/>
              <a:t>, </a:t>
            </a:r>
            <a:r>
              <a:rPr lang="en-US" dirty="0" err="1"/>
              <a:t>psdData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photoData</a:t>
            </a:r>
            <a:r>
              <a:rPr lang="en-US" dirty="0"/>
              <a:t>[1], </a:t>
            </a:r>
            <a:r>
              <a:rPr lang="en-US" dirty="0" err="1"/>
              <a:t>pptxData</a:t>
            </a:r>
            <a:r>
              <a:rPr lang="en-US" dirty="0"/>
              <a:t>[1], </a:t>
            </a:r>
            <a:r>
              <a:rPr lang="en-US" dirty="0" err="1"/>
              <a:t>psdData</a:t>
            </a:r>
            <a:r>
              <a:rPr lang="en-US" dirty="0"/>
              <a:t>[1]);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838700"/>
            <a:ext cx="8534400" cy="1136649"/>
          </a:xfrm>
        </p:spPr>
        <p:txBody>
          <a:bodyPr>
            <a:normAutofit fontScale="90000"/>
          </a:bodyPr>
          <a:lstStyle/>
          <a:p>
            <a:r>
              <a:rPr lang="ru-RU" dirty="0"/>
              <a:t>Начало и конец строки</a:t>
            </a:r>
            <a:br>
              <a:rPr lang="ru-RU" dirty="0"/>
            </a:br>
            <a:r>
              <a:rPr lang="ru-RU">
                <a:sym typeface="+mn-ea"/>
              </a:rPr>
              <a:t>Метод </a:t>
            </a:r>
            <a:r>
              <a:rPr lang="en-US">
                <a:sym typeface="+mn-ea"/>
              </a:rPr>
              <a:t>regexObj.test(str)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4029075"/>
          </a:xfrm>
        </p:spPr>
        <p:txBody>
          <a:bodyPr/>
          <a:lstStyle/>
          <a:p>
            <a:r>
              <a:rPr lang="en-US" dirty="0"/>
              <a:t>^ - </a:t>
            </a:r>
            <a:r>
              <a:rPr lang="ru-RU" dirty="0"/>
              <a:t>символ начала строки</a:t>
            </a:r>
            <a:endParaRPr lang="en-US" dirty="0"/>
          </a:p>
          <a:p>
            <a:r>
              <a:rPr lang="en-US" dirty="0"/>
              <a:t>$</a:t>
            </a:r>
            <a:r>
              <a:rPr lang="ru-RU" dirty="0"/>
              <a:t> - символ конца строки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Ищем строки, которые начинаются и заканчиваются на «а»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strings = ['</a:t>
            </a:r>
            <a:r>
              <a:rPr lang="ru-RU" dirty="0"/>
              <a:t>А зори здесь тихие', 'А роза упала на лапу </a:t>
            </a:r>
            <a:r>
              <a:rPr lang="ru-RU" dirty="0" err="1"/>
              <a:t>Азора</a:t>
            </a:r>
            <a:r>
              <a:rPr lang="ru-RU" dirty="0"/>
              <a:t>', 'Алиса в </a:t>
            </a:r>
            <a:r>
              <a:rPr lang="ru-RU" dirty="0" err="1"/>
              <a:t>Зазаркалье</a:t>
            </a:r>
            <a:r>
              <a:rPr lang="ru-RU" dirty="0"/>
              <a:t>', 'Азбука'], </a:t>
            </a:r>
            <a:r>
              <a:rPr lang="en-US" dirty="0"/>
              <a:t>re = /^</a:t>
            </a:r>
            <a:r>
              <a:rPr lang="ru-RU" dirty="0"/>
              <a:t>а?[\</a:t>
            </a:r>
            <a:r>
              <a:rPr lang="en-US" dirty="0"/>
              <a:t>D]+</a:t>
            </a:r>
            <a:r>
              <a:rPr lang="ru-RU" dirty="0"/>
              <a:t>а$/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checkA</a:t>
            </a:r>
            <a:r>
              <a:rPr lang="en-US" dirty="0"/>
              <a:t> = </a:t>
            </a:r>
            <a:r>
              <a:rPr lang="en-US" dirty="0" err="1"/>
              <a:t>strings.filter</a:t>
            </a:r>
            <a:r>
              <a:rPr lang="en-US" dirty="0"/>
              <a:t>(item =&gt; </a:t>
            </a:r>
            <a:r>
              <a:rPr lang="en-US" dirty="0" err="1"/>
              <a:t>re.test</a:t>
            </a:r>
            <a:r>
              <a:rPr lang="en-US" dirty="0"/>
              <a:t>(item) 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checkA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dirty="0"/>
              <a:t>//</a:t>
            </a:r>
            <a:r>
              <a:rPr lang="ru-RU" dirty="0"/>
              <a:t> ["А роза </a:t>
            </a:r>
            <a:r>
              <a:rPr lang="ru-RU" dirty="0" err="1"/>
              <a:t>упалана</a:t>
            </a:r>
            <a:r>
              <a:rPr lang="ru-RU" dirty="0"/>
              <a:t> лапу </a:t>
            </a:r>
            <a:r>
              <a:rPr lang="ru-RU" dirty="0" err="1"/>
              <a:t>Азора</a:t>
            </a:r>
            <a:r>
              <a:rPr lang="ru-RU" dirty="0"/>
              <a:t>", "Азбука"]</a:t>
            </a:r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45" y="4925060"/>
            <a:ext cx="5424805" cy="1506855"/>
          </a:xfrm>
        </p:spPr>
        <p:txBody>
          <a:bodyPr/>
          <a:p>
            <a:r>
              <a:rPr lang="ru-RU">
                <a:sym typeface="+mn-ea"/>
              </a:rPr>
              <a:t>Метод </a:t>
            </a:r>
            <a:r>
              <a:rPr lang="en-US">
                <a:sym typeface="+mn-ea"/>
              </a:rPr>
              <a:t>regexObj.test(str)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4168140" cy="3615055"/>
          </a:xfrm>
        </p:spPr>
        <p:txBody>
          <a:bodyPr/>
          <a:p>
            <a:pPr marL="0" indent="0">
              <a:buNone/>
            </a:pPr>
            <a:r>
              <a:rPr lang="en-US">
                <a:sym typeface="+mn-ea"/>
              </a:rPr>
              <a:t>Метод </a:t>
            </a:r>
            <a:r>
              <a:rPr lang="en-US" b="1">
                <a:sym typeface="+mn-ea"/>
              </a:rPr>
              <a:t>test()</a:t>
            </a:r>
            <a:r>
              <a:rPr lang="en-US">
                <a:sym typeface="+mn-ea"/>
              </a:rPr>
              <a:t> выполняет поиск сопоставления регулярного выражения указанной строке. Возвращает </a:t>
            </a:r>
            <a:r>
              <a:rPr lang="en-US" b="1">
                <a:sym typeface="+mn-ea"/>
              </a:rPr>
              <a:t>true </a:t>
            </a:r>
            <a:r>
              <a:rPr lang="en-US">
                <a:sym typeface="+mn-ea"/>
              </a:rPr>
              <a:t>или </a:t>
            </a:r>
            <a:r>
              <a:rPr lang="en-US" b="1">
                <a:sym typeface="+mn-ea"/>
              </a:rPr>
              <a:t>false</a:t>
            </a:r>
            <a:r>
              <a:rPr lang="en-US">
                <a:sym typeface="+mn-ea"/>
              </a:rPr>
              <a:t>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630" y="562610"/>
            <a:ext cx="6637020" cy="49269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>
                <a:sym typeface="+mn-ea"/>
              </a:rPr>
              <a:t>function testinput(re, str){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var midstring;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if (re.test(str)) {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midstring = ' содержит ';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} else {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midstring = ' не содержит ';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}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console.log(str + midstring + re.source);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}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testinput(/ром/ig, "Ромашка пахнет ромом");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testinput(/ром/ig, " пахнет ромом");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45" y="4925060"/>
            <a:ext cx="5424805" cy="1506855"/>
          </a:xfrm>
        </p:spPr>
        <p:txBody>
          <a:bodyPr/>
          <a:p>
            <a:r>
              <a:rPr lang="ru-RU" altLang="en-US">
                <a:sym typeface="+mn-ea"/>
              </a:rPr>
              <a:t>Использование </a:t>
            </a:r>
            <a:r>
              <a:rPr lang="en-US" altLang="en-US">
                <a:sym typeface="+mn-ea"/>
              </a:rPr>
              <a:t>RegExp.test()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895" y="685800"/>
            <a:ext cx="4168140" cy="36150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sym typeface="+mn-ea"/>
              </a:rPr>
              <a:t>Написать функцию для проверки спама в переданной строке.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Функция возвращает true, если строка содержит спам.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Спамом считать следующие слова: 100% бесплатно, увеличение продаж, только сегодня, не удаляйте, ххх.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Функция должна быть нечувствительна к регистру.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4630" y="562610"/>
            <a:ext cx="6637020" cy="492696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>
                <a:sym typeface="+mn-ea"/>
              </a:rPr>
              <a:t>function spamHunter(str) {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let spam = ['100% бесплатно', 'увеличение продаж', 'только сегодня', 'не удаляйте', 'ххх'],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    res = false;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spam.forEach(word =&gt; {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    let check = new RegExp(word, 'ig');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    if (!res) res = check.test(str);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});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return res;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}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document.write('&lt;p&gt;' + spamHunter('Вы получитье счастье 100% бесплатно') + '&lt;/p&gt;');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document.write('&lt;p&gt;' + spamHunter('Пойдем гулять сегодня') + '&lt;/p&gt;');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document.write('&lt;p&gt;' + spamHunter('Только сегодня вы можете приобрести фен') + '&lt;/p&gt;');</a:t>
            </a:r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7537" y="5362575"/>
            <a:ext cx="8534400" cy="1136649"/>
          </a:xfrm>
        </p:spPr>
        <p:txBody>
          <a:bodyPr/>
          <a:lstStyle/>
          <a:p>
            <a:r>
              <a:rPr lang="ru-RU" dirty="0"/>
              <a:t>Проверка </a:t>
            </a:r>
            <a:r>
              <a:rPr lang="en-US" dirty="0"/>
              <a:t>URL </a:t>
            </a:r>
            <a:r>
              <a:rPr lang="ru-RU" dirty="0"/>
              <a:t>на правильность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3737" y="358776"/>
            <a:ext cx="8534400" cy="4762500"/>
          </a:xfrm>
        </p:spPr>
        <p:txBody>
          <a:bodyPr>
            <a:normAutofit fontScale="72500"/>
          </a:bodyPr>
          <a:lstStyle/>
          <a:p>
            <a:pPr marL="0" indent="0">
              <a:buNone/>
            </a:pPr>
            <a:r>
              <a:rPr lang="en-US" dirty="0"/>
              <a:t>const </a:t>
            </a:r>
            <a:r>
              <a:rPr lang="en-US" dirty="0" err="1"/>
              <a:t>stringUrls</a:t>
            </a:r>
            <a:r>
              <a:rPr lang="en-US" dirty="0"/>
              <a:t> = [	'https://proglib.io/',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'http://html-plus.in.ua/?s=</a:t>
            </a:r>
            <a:r>
              <a:rPr lang="en-US" dirty="0" err="1"/>
              <a:t>javascript</a:t>
            </a:r>
            <a:r>
              <a:rPr lang="en-US" dirty="0"/>
              <a:t>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'https://learn.javascript.ru/',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'this is not a URL',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'https://google.com.ua/',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'123461',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file:///E:/JS1/05.Objects/RegExp/reg-exp.html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'http://not a valid </a:t>
            </a:r>
            <a:r>
              <a:rPr lang="en-US" dirty="0" err="1"/>
              <a:t>url</a:t>
            </a:r>
            <a:r>
              <a:rPr lang="en-US" dirty="0"/>
              <a:t>',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'</a:t>
            </a:r>
            <a:r>
              <a:rPr lang="en-US" dirty="0" err="1"/>
              <a:t>abc</a:t>
            </a:r>
            <a:r>
              <a:rPr lang="en-US" dirty="0"/>
              <a:t> http://invalid.url/'];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const regex = /^https?:\/\/[\w\/?.&amp;-=]+$/;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const regex1 = /^https?|file:\/\/[\w\/?.&amp;-=]+$/; //</a:t>
            </a:r>
            <a:r>
              <a:rPr lang="ru-RU" altLang="en-US" dirty="0"/>
              <a:t>с учетом локальных файлов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validUrls</a:t>
            </a:r>
            <a:r>
              <a:rPr lang="en-US" dirty="0"/>
              <a:t> = </a:t>
            </a:r>
            <a:r>
              <a:rPr lang="en-US" dirty="0" err="1"/>
              <a:t>stringUrls.filter</a:t>
            </a:r>
            <a:r>
              <a:rPr lang="en-US" dirty="0"/>
              <a:t>( item =&gt; </a:t>
            </a:r>
            <a:r>
              <a:rPr lang="en-US" dirty="0" err="1"/>
              <a:t>regex.test</a:t>
            </a:r>
            <a:r>
              <a:rPr lang="en-US" dirty="0"/>
              <a:t>(item));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validUrls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dirty="0"/>
              <a:t>//["https://proglib.io/", "http://html-plus.in.ua/?s=</a:t>
            </a:r>
            <a:r>
              <a:rPr lang="en-US" dirty="0" err="1"/>
              <a:t>javascript</a:t>
            </a:r>
            <a:r>
              <a:rPr lang="en-US" dirty="0"/>
              <a:t>", "https://learn.javascript.ru/", "https://google.com.ua/"]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8512" y="5607686"/>
            <a:ext cx="8534400" cy="848359"/>
          </a:xfrm>
        </p:spPr>
        <p:txBody>
          <a:bodyPr/>
          <a:lstStyle/>
          <a:p>
            <a:r>
              <a:rPr lang="ru-RU" dirty="0"/>
              <a:t>Метод </a:t>
            </a:r>
            <a:r>
              <a:rPr lang="en-US" dirty="0" err="1"/>
              <a:t>string.replace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13568" y="394970"/>
            <a:ext cx="10964863" cy="188595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Это универсальный метод поиска-и-замены, один из самых полезных. Этакий швейцарский армейский нож для поиска и замены в строке.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Когда первый аргумент </a:t>
            </a:r>
            <a:r>
              <a:rPr kumimoji="0" lang="ru-RU" altLang="ru-RU" sz="2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replace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является строкой, он заменяет только первое совпадение.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ru-RU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Чтобы найти все дефисы, нам нужно использовать не строку </a:t>
            </a:r>
            <a:r>
              <a:rPr lang="ru-RU" altLang="ru-RU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"-"</a:t>
            </a:r>
            <a:r>
              <a:rPr lang="ru-RU" altLang="ru-RU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а регулярное выражение </a:t>
            </a:r>
            <a:r>
              <a:rPr lang="ru-RU" altLang="ru-RU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/-/g </a:t>
            </a:r>
            <a:r>
              <a:rPr lang="ru-RU" altLang="ru-RU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обязательным флагом </a:t>
            </a:r>
            <a:r>
              <a:rPr lang="ru-RU" altLang="ru-RU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Таблица 7"/>
          <p:cNvGraphicFramePr>
            <a:graphicFrameLocks noGrp="1"/>
          </p:cNvGraphicFramePr>
          <p:nvPr>
            <p:ph sz="half" idx="2"/>
          </p:nvPr>
        </p:nvGraphicFramePr>
        <p:xfrm>
          <a:off x="798512" y="2511743"/>
          <a:ext cx="919321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737"/>
                <a:gridCol w="6626476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Спецсимволы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Действие в строке замены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$$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“$”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$&amp;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 всё найденное совпадение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 часть строки до совпадения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$’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 часть строки после совпадения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$n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если </a:t>
                      </a:r>
                      <a:r>
                        <a:rPr lang="ru-RU" dirty="0"/>
                        <a:t>n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это 1-2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значное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число, то вставляет содержимое n-й скобки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$&lt;имя&gt;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 содержимое скобки с указанным именем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030257"/>
            <a:ext cx="8534400" cy="1507067"/>
          </a:xfrm>
        </p:spPr>
        <p:txBody>
          <a:bodyPr/>
          <a:lstStyle/>
          <a:p>
            <a:r>
              <a:rPr lang="ru-RU" dirty="0"/>
              <a:t>Метод </a:t>
            </a:r>
            <a:r>
              <a:rPr lang="en-US" dirty="0" err="1"/>
              <a:t>string.replace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685800"/>
            <a:ext cx="9412288" cy="4191000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Для ситуаций, которые требуют «умных» замен, вторым аргументом может быть функция.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Она будет вызываться для каждого совпадения, и её результат будет вставлен в качестве замены.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Функция вызывается с аргументами 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func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match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p1, p2, ...,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pn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offset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groups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):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match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– найденное совпадение,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p1, p2, ...,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pn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– содержимое скобок (см. главу 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hlinkClick r:id="rId1"/>
              </a:rPr>
              <a:t>Скобочные группы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).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offset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– позиция, на которой найдено совпадение,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– исходная строка,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groups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 – объект с содержимым именованных скобок (см. главу 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hlinkClick r:id="rId1"/>
              </a:rPr>
              <a:t>Скобочные группы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).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Если скобок в регулярном выражении нет, то будет только 3 аргумента: 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func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match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offset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</a:t>
            </a:r>
            <a:r>
              <a:rPr kumimoji="0" lang="ru-RU" altLang="ru-RU" sz="19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).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ru-RU" altLang="ru-RU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Например, переведём выбранные совпадения в верхний регистр:</a:t>
            </a:r>
            <a:endParaRPr kumimoji="0" lang="ru-RU" altLang="ru-RU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https://learn.javascript.ru/regexp-methods</a:t>
            </a:r>
            <a:r>
              <a:rPr lang="en-US" dirty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5029622"/>
            <a:ext cx="8534400" cy="1507067"/>
          </a:xfrm>
        </p:spPr>
        <p:txBody>
          <a:bodyPr/>
          <a:p>
            <a:r>
              <a:rPr lang="en-US" altLang="en-US"/>
              <a:t>Маска для номера телефона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Заменяем все нецифровые символы пустой строкой: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const phoneInput = document.querySelector("#phone");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phoneInput.addEventListener("input", function() 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phoneInput.value = phoneInput.value.replace(/\D/g, "").slice(0, 11);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});</a:t>
            </a:r>
            <a:endParaRPr lang="en-US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5355771"/>
            <a:ext cx="8534400" cy="1128485"/>
          </a:xfrm>
        </p:spPr>
        <p:txBody>
          <a:bodyPr/>
          <a:lstStyle/>
          <a:p>
            <a:r>
              <a:rPr lang="ru-RU" dirty="0"/>
              <a:t>Простые совпадения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4211" y="293914"/>
            <a:ext cx="3774094" cy="4800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err="1"/>
              <a:t>let</a:t>
            </a:r>
            <a:r>
              <a:rPr lang="ru-RU" dirty="0"/>
              <a:t> </a:t>
            </a:r>
            <a:r>
              <a:rPr lang="ru-RU" dirty="0" err="1"/>
              <a:t>poem</a:t>
            </a:r>
            <a:r>
              <a:rPr lang="ru-RU" dirty="0"/>
              <a:t> = `Где же в природе вода?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инее на проводах,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сизом тумане,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ручье на поляне,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брызгах фонтана,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струйке из крана,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соке берёзы,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студёном морозе,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бушующем море,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ветрах на просторе,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дожде серебристом,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льдинках искристых,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рудах металлов,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других минералах,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58305" y="293915"/>
            <a:ext cx="3989009" cy="49421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 горах, на равнинах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 в самых низинах,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На Марсе, Венере,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земной атмосфере,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сосульках на крыше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 в каждом, кто дышит,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росе на траве,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 тебе и во мне.`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testRe</a:t>
            </a:r>
            <a:r>
              <a:rPr lang="en-US" dirty="0"/>
              <a:t> = /В/,testRe2 = /В/g;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poem.replace</a:t>
            </a:r>
            <a:r>
              <a:rPr lang="en-US" dirty="0"/>
              <a:t>(</a:t>
            </a:r>
            <a:r>
              <a:rPr lang="en-US" dirty="0" err="1"/>
              <a:t>testRe</a:t>
            </a:r>
            <a:r>
              <a:rPr lang="en-US" dirty="0"/>
              <a:t>, 'In')+'&lt;/pre&gt;’);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poem.replace</a:t>
            </a:r>
            <a:r>
              <a:rPr lang="en-US" dirty="0"/>
              <a:t>(testRe2, '&lt;span style="color: red"&gt;In&lt;/span&gt;')+'&lt;/pre&gt;’);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7" name="Объект 3"/>
          <p:cNvSpPr txBox="1"/>
          <p:nvPr/>
        </p:nvSpPr>
        <p:spPr>
          <a:xfrm>
            <a:off x="8028819" y="457200"/>
            <a:ext cx="3989009" cy="4942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ru-RU" dirty="0"/>
          </a:p>
        </p:txBody>
      </p:sp>
      <p:pic>
        <p:nvPicPr>
          <p:cNvPr id="10" name="Объект 5"/>
          <p:cNvPicPr>
            <a:picLocks noChangeAspect="1"/>
          </p:cNvPicPr>
          <p:nvPr/>
        </p:nvPicPr>
        <p:blipFill rotWithShape="1">
          <a:blip r:embed="rId1"/>
          <a:srcRect t="25103" r="80718" b="20595"/>
          <a:stretch>
            <a:fillRect/>
          </a:stretch>
        </p:blipFill>
        <p:spPr>
          <a:xfrm>
            <a:off x="8850086" y="457200"/>
            <a:ext cx="2508023" cy="397298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Замена с учетом пробела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6075818" cy="361526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testRe3 = /</a:t>
            </a:r>
            <a:r>
              <a:rPr lang="ru-RU" b="1" dirty="0"/>
              <a:t>В\</a:t>
            </a:r>
            <a:r>
              <a:rPr lang="en-US" b="1" dirty="0"/>
              <a:t>s/g;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document.write</a:t>
            </a:r>
            <a:r>
              <a:rPr lang="en-US" b="1" dirty="0"/>
              <a:t>('&lt;pre&gt;'+</a:t>
            </a:r>
            <a:r>
              <a:rPr lang="en-US" b="1" dirty="0" err="1"/>
              <a:t>poem.replace</a:t>
            </a:r>
            <a:r>
              <a:rPr lang="en-US" b="1" dirty="0"/>
              <a:t>(testRe3, '&lt;span style="color: orange"&gt;In&lt;/span&gt;')+'&lt;/pre&gt;’);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document.write</a:t>
            </a:r>
            <a:r>
              <a:rPr lang="en-US" b="1" dirty="0"/>
              <a:t>('&lt;pre&gt;'+</a:t>
            </a:r>
            <a:r>
              <a:rPr lang="en-US" b="1" dirty="0" err="1"/>
              <a:t>poem.replace</a:t>
            </a:r>
            <a:r>
              <a:rPr lang="en-US" b="1" dirty="0"/>
              <a:t>(testRe3, '&lt;span style="color: blue"&gt;In &lt;/span&gt;')+'&lt;/pre&gt;');</a:t>
            </a:r>
            <a:endParaRPr lang="ru-RU" b="1" dirty="0"/>
          </a:p>
          <a:p>
            <a:pPr marL="0" indent="0">
              <a:buNone/>
            </a:pPr>
            <a:endParaRPr lang="ru-RU" b="1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1"/>
          <a:srcRect t="11183" b="11183"/>
          <a:stretch>
            <a:fillRect/>
          </a:stretch>
        </p:blipFill>
        <p:spPr>
          <a:xfrm>
            <a:off x="6710589" y="421216"/>
            <a:ext cx="2508023" cy="3972981"/>
          </a:xfrm>
        </p:spPr>
      </p:pic>
      <p:pic>
        <p:nvPicPr>
          <p:cNvPr id="9" name="Объект 5"/>
          <p:cNvPicPr>
            <a:picLocks noChangeAspect="1"/>
          </p:cNvPicPr>
          <p:nvPr/>
        </p:nvPicPr>
        <p:blipFill>
          <a:blip r:embed="rId2"/>
          <a:srcRect t="9111" b="9111"/>
          <a:stretch>
            <a:fillRect/>
          </a:stretch>
        </p:blipFill>
        <p:spPr>
          <a:xfrm>
            <a:off x="9516268" y="421217"/>
            <a:ext cx="2508023" cy="397298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Замена методом </a:t>
            </a:r>
            <a:r>
              <a:rPr lang="en-US" altLang="ru-RU" dirty="0"/>
              <a:t>replaceAll()</a:t>
            </a:r>
            <a:endParaRPr lang="en-US" alt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6075818" cy="3615267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Без использования регулярных выражений:</a:t>
            </a:r>
            <a:endParaRPr b="1" dirty="0"/>
          </a:p>
          <a:p>
            <a:pPr marL="0" indent="0">
              <a:buNone/>
            </a:pPr>
            <a:r>
              <a:rPr b="1" dirty="0"/>
              <a:t>let testReplaceAll = poem.replaceAll("В", '&lt;em style="color:red"&gt;Go to&lt;/em&gt;');</a:t>
            </a:r>
            <a:endParaRPr b="1" dirty="0"/>
          </a:p>
          <a:p>
            <a:pPr marL="0" indent="0">
              <a:buNone/>
            </a:pPr>
            <a:r>
              <a:rPr b="1" dirty="0"/>
              <a:t>document.write('&lt;pre&gt;'+testReplaceAll+'&lt;/pre&gt;')</a:t>
            </a:r>
            <a:endParaRPr b="1" dirty="0"/>
          </a:p>
        </p:txBody>
      </p:sp>
      <p:pic>
        <p:nvPicPr>
          <p:cNvPr id="5" name="Content Placeholder 4" descr="Screenshot(1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180580" y="685800"/>
            <a:ext cx="2188845" cy="36150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Текст для проверок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err="1"/>
              <a:t>let</a:t>
            </a:r>
            <a:r>
              <a:rPr lang="ru-RU" dirty="0"/>
              <a:t> </a:t>
            </a:r>
            <a:r>
              <a:rPr lang="ru-RU" dirty="0" err="1"/>
              <a:t>textHistory</a:t>
            </a:r>
            <a:r>
              <a:rPr lang="ru-RU" dirty="0"/>
              <a:t> = `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476 год - Падение Западной Римской империи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486 год - Битва при </a:t>
            </a:r>
            <a:r>
              <a:rPr lang="ru-RU" dirty="0" err="1"/>
              <a:t>Суассоне</a:t>
            </a:r>
            <a:r>
              <a:rPr lang="ru-RU" dirty="0"/>
              <a:t> и основание </a:t>
            </a:r>
            <a:r>
              <a:rPr lang="ru-RU" dirty="0" err="1"/>
              <a:t>Хлодвигом</a:t>
            </a:r>
            <a:r>
              <a:rPr lang="ru-RU" dirty="0"/>
              <a:t> I Франкского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493 год - Основание Остготского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496 год - Крещение </a:t>
            </a:r>
            <a:r>
              <a:rPr lang="ru-RU" dirty="0" err="1"/>
              <a:t>Хлодвига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507 год - Битва при </a:t>
            </a:r>
            <a:r>
              <a:rPr lang="ru-RU" dirty="0" err="1"/>
              <a:t>Вуйе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527 год - Восшествие на престол Юстиниана I Великого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530 год - Основание монастыря Монте-</a:t>
            </a:r>
            <a:r>
              <a:rPr lang="ru-RU" dirty="0" err="1"/>
              <a:t>Кассино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555 год - Завоевание Византией Остготского королевства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687 год - </a:t>
            </a:r>
            <a:r>
              <a:rPr lang="ru-RU" dirty="0" err="1"/>
              <a:t>Пипин</a:t>
            </a:r>
            <a:r>
              <a:rPr lang="ru-RU" dirty="0"/>
              <a:t> </a:t>
            </a:r>
            <a:r>
              <a:rPr lang="ru-RU" dirty="0" err="1"/>
              <a:t>Геристальский</a:t>
            </a:r>
            <a:r>
              <a:rPr lang="ru-RU" dirty="0"/>
              <a:t> - майордом Франкского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732 год - Битва при Пуатье`;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2" y="5181600"/>
            <a:ext cx="9621838" cy="1308099"/>
          </a:xfrm>
        </p:spPr>
        <p:txBody>
          <a:bodyPr/>
          <a:lstStyle/>
          <a:p>
            <a:r>
              <a:rPr lang="ru-RU" dirty="0"/>
              <a:t>Ищем гласные и </a:t>
            </a:r>
            <a:r>
              <a:rPr lang="ru-RU" dirty="0" err="1"/>
              <a:t>НЕгласные</a:t>
            </a:r>
            <a:r>
              <a:rPr lang="ru-RU" dirty="0"/>
              <a:t>  буквы – диапазон символов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50862" y="2923118"/>
            <a:ext cx="4937655" cy="1930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symbDiapazone</a:t>
            </a:r>
            <a:r>
              <a:rPr lang="en-US" dirty="0"/>
              <a:t> = /([</a:t>
            </a:r>
            <a:r>
              <a:rPr lang="ru-RU" dirty="0" err="1"/>
              <a:t>аиеуёояюэ</a:t>
            </a:r>
            <a:r>
              <a:rPr lang="ru-RU" dirty="0"/>
              <a:t>])/</a:t>
            </a:r>
            <a:r>
              <a:rPr lang="en-US" dirty="0" err="1"/>
              <a:t>gi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</a:t>
            </a:r>
            <a:r>
              <a:rPr lang="en-US" dirty="0" err="1"/>
              <a:t>symbDiapazone</a:t>
            </a:r>
            <a:r>
              <a:rPr lang="en-US" dirty="0"/>
              <a:t>, '&lt;span style="color: orange"&gt;$1&lt;/span&gt;')+'&lt;/pre&gt;');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 rotWithShape="1">
          <a:blip r:embed="rId1"/>
          <a:srcRect t="63472" r="46107" b="7357"/>
          <a:stretch>
            <a:fillRect/>
          </a:stretch>
        </p:blipFill>
        <p:spPr>
          <a:xfrm>
            <a:off x="465137" y="454026"/>
            <a:ext cx="6194043" cy="1885950"/>
          </a:xfrm>
        </p:spPr>
      </p:pic>
      <p:pic>
        <p:nvPicPr>
          <p:cNvPr id="7" name="Объект 5"/>
          <p:cNvPicPr>
            <a:picLocks noChangeAspect="1"/>
          </p:cNvPicPr>
          <p:nvPr/>
        </p:nvPicPr>
        <p:blipFill>
          <a:blip r:embed="rId2"/>
          <a:srcRect l="2340" r="2340"/>
          <a:stretch>
            <a:fillRect/>
          </a:stretch>
        </p:blipFill>
        <p:spPr>
          <a:xfrm>
            <a:off x="5875337" y="2923118"/>
            <a:ext cx="6194043" cy="1885950"/>
          </a:xfrm>
          <a:prstGeom prst="rect">
            <a:avLst/>
          </a:prstGeom>
        </p:spPr>
      </p:pic>
      <p:sp>
        <p:nvSpPr>
          <p:cNvPr id="8" name="Объект 2"/>
          <p:cNvSpPr txBox="1"/>
          <p:nvPr/>
        </p:nvSpPr>
        <p:spPr>
          <a:xfrm>
            <a:off x="6913562" y="541868"/>
            <a:ext cx="4937655" cy="1930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let symbDiapazone2 = /([^</a:t>
            </a:r>
            <a:r>
              <a:rPr lang="ru-RU" dirty="0" err="1"/>
              <a:t>аиеуёо</a:t>
            </a:r>
            <a:r>
              <a:rPr lang="ru-RU" dirty="0"/>
              <a:t>])/</a:t>
            </a:r>
            <a:r>
              <a:rPr lang="en-US" dirty="0" err="1"/>
              <a:t>gi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(symbDiapazone2, '&lt;span style="color: red"&gt;$1&lt;/span&gt;')+'&lt;/pre&gt;');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2" y="5181600"/>
            <a:ext cx="9621838" cy="1308099"/>
          </a:xfrm>
        </p:spPr>
        <p:txBody>
          <a:bodyPr/>
          <a:lstStyle/>
          <a:p>
            <a:r>
              <a:rPr lang="ru-RU" dirty="0"/>
              <a:t>Ищем </a:t>
            </a:r>
            <a:r>
              <a:rPr lang="ru-RU" dirty="0" err="1"/>
              <a:t>СОгласные</a:t>
            </a:r>
            <a:r>
              <a:rPr lang="ru-RU" dirty="0"/>
              <a:t> буквы – диапазон символов с исключением и без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50862" y="2923118"/>
            <a:ext cx="4937655" cy="1930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let symbDiapazone3 = /([^</a:t>
            </a:r>
            <a:r>
              <a:rPr lang="ru-RU" dirty="0"/>
              <a:t>аиеуёо0-9-])/</a:t>
            </a:r>
            <a:r>
              <a:rPr lang="en-US" dirty="0" err="1"/>
              <a:t>gi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(symbDiapazone3, '&lt;span style="color: orange"&gt;$1&lt;/span&gt;')+'&lt;/pre&gt;');</a:t>
            </a:r>
            <a:endParaRPr lang="ru-RU" dirty="0"/>
          </a:p>
        </p:txBody>
      </p:sp>
      <p:pic>
        <p:nvPicPr>
          <p:cNvPr id="7" name="Объект 5"/>
          <p:cNvPicPr>
            <a:picLocks noChangeAspect="1"/>
          </p:cNvPicPr>
          <p:nvPr/>
        </p:nvPicPr>
        <p:blipFill>
          <a:blip r:embed="rId1"/>
          <a:srcRect l="4279" r="4279"/>
          <a:stretch>
            <a:fillRect/>
          </a:stretch>
        </p:blipFill>
        <p:spPr>
          <a:xfrm>
            <a:off x="5875337" y="2923118"/>
            <a:ext cx="6194043" cy="1885950"/>
          </a:xfrm>
          <a:prstGeom prst="rect">
            <a:avLst/>
          </a:prstGeom>
        </p:spPr>
      </p:pic>
      <p:sp>
        <p:nvSpPr>
          <p:cNvPr id="8" name="Объект 2"/>
          <p:cNvSpPr txBox="1"/>
          <p:nvPr/>
        </p:nvSpPr>
        <p:spPr>
          <a:xfrm>
            <a:off x="6913562" y="541868"/>
            <a:ext cx="4937655" cy="1930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let symbDiapazone4 = /([</a:t>
            </a:r>
            <a:r>
              <a:rPr lang="ru-RU" dirty="0"/>
              <a:t>а-е])/</a:t>
            </a:r>
            <a:r>
              <a:rPr lang="en-US" dirty="0" err="1"/>
              <a:t>gi</a:t>
            </a:r>
            <a:r>
              <a:rPr lang="en-US" dirty="0"/>
              <a:t>;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(symbDiapazone4, '&lt;span style="color: blue"&gt;$1&lt;/span&gt;')+'&lt;/pre&gt;');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9767" y="437094"/>
            <a:ext cx="6417733" cy="1824776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5711371"/>
            <a:ext cx="8534400" cy="921656"/>
          </a:xfrm>
        </p:spPr>
        <p:txBody>
          <a:bodyPr/>
          <a:lstStyle/>
          <a:p>
            <a:r>
              <a:rPr lang="ru-RU" dirty="0"/>
              <a:t>Замена Группы Цифр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48114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err="1"/>
              <a:t>let</a:t>
            </a:r>
            <a:r>
              <a:rPr lang="ru-RU" dirty="0"/>
              <a:t> </a:t>
            </a:r>
            <a:r>
              <a:rPr lang="ru-RU" dirty="0" err="1"/>
              <a:t>textHistory</a:t>
            </a:r>
            <a:r>
              <a:rPr lang="ru-RU" dirty="0"/>
              <a:t> = `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476 год - Падение Западной Римской империи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486 год - Битва при </a:t>
            </a:r>
            <a:r>
              <a:rPr lang="ru-RU" dirty="0" err="1"/>
              <a:t>Суассоне</a:t>
            </a:r>
            <a:r>
              <a:rPr lang="ru-RU" dirty="0"/>
              <a:t> и основание </a:t>
            </a:r>
            <a:r>
              <a:rPr lang="ru-RU" dirty="0" err="1"/>
              <a:t>Хлодвигом</a:t>
            </a:r>
            <a:r>
              <a:rPr lang="ru-RU" dirty="0"/>
              <a:t> I Франкского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493 год - Основание Остготского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496 год - Крещение </a:t>
            </a:r>
            <a:r>
              <a:rPr lang="ru-RU" dirty="0" err="1"/>
              <a:t>Хлодвига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507 год - Битва при </a:t>
            </a:r>
            <a:r>
              <a:rPr lang="ru-RU" dirty="0" err="1"/>
              <a:t>Вуйе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527 год - Восшествие на престол Юстиниана I Великого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530 год - Основание монастыря Монте-</a:t>
            </a:r>
            <a:r>
              <a:rPr lang="ru-RU" dirty="0" err="1"/>
              <a:t>Кассино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555 год - Завоевание Византией Остготского королевства 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687 год - </a:t>
            </a:r>
            <a:r>
              <a:rPr lang="ru-RU" dirty="0" err="1"/>
              <a:t>Пипин</a:t>
            </a:r>
            <a:r>
              <a:rPr lang="ru-RU" dirty="0"/>
              <a:t> </a:t>
            </a:r>
            <a:r>
              <a:rPr lang="ru-RU" dirty="0" err="1"/>
              <a:t>Геристальский</a:t>
            </a:r>
            <a:r>
              <a:rPr lang="ru-RU" dirty="0"/>
              <a:t> - майордом Франкского королевства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732 год - Битва при Пуатье`;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sz="half" idx="2"/>
          </p:nvPr>
        </p:nvPicPr>
        <p:blipFill rotWithShape="1">
          <a:blip r:embed="rId1"/>
          <a:srcRect t="63896" r="46625" b="6149"/>
          <a:stretch>
            <a:fillRect/>
          </a:stretch>
        </p:blipFill>
        <p:spPr>
          <a:xfrm>
            <a:off x="5806909" y="627743"/>
            <a:ext cx="6086352" cy="1921329"/>
          </a:xfrm>
        </p:spPr>
      </p:pic>
      <p:sp>
        <p:nvSpPr>
          <p:cNvPr id="5" name="Объект 3"/>
          <p:cNvSpPr txBox="1"/>
          <p:nvPr/>
        </p:nvSpPr>
        <p:spPr>
          <a:xfrm>
            <a:off x="9218611" y="783772"/>
            <a:ext cx="3618896" cy="428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ru-RU" dirty="0"/>
          </a:p>
        </p:txBody>
      </p:sp>
      <p:sp>
        <p:nvSpPr>
          <p:cNvPr id="6" name="Объект 3"/>
          <p:cNvSpPr txBox="1"/>
          <p:nvPr/>
        </p:nvSpPr>
        <p:spPr>
          <a:xfrm>
            <a:off x="5806909" y="2705101"/>
            <a:ext cx="5508171" cy="2694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let </a:t>
            </a:r>
            <a:r>
              <a:rPr lang="en-US" dirty="0" err="1"/>
              <a:t>digitTest</a:t>
            </a:r>
            <a:r>
              <a:rPr lang="en-US" dirty="0"/>
              <a:t> = /(\d)/g;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</a:t>
            </a:r>
            <a:r>
              <a:rPr lang="en-US" dirty="0" err="1"/>
              <a:t>digitTest</a:t>
            </a:r>
            <a:r>
              <a:rPr lang="en-US" dirty="0"/>
              <a:t>, '&lt;span style="color: blue"&gt;$1&lt;/span&gt;')+'&lt;/pre&gt;'); </a:t>
            </a:r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5277859"/>
            <a:ext cx="8534400" cy="105137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Замена Группы Цифр</a:t>
            </a:r>
            <a:r>
              <a:rPr lang="en-US" dirty="0"/>
              <a:t> </a:t>
            </a:r>
            <a:r>
              <a:rPr lang="ru-RU" dirty="0"/>
              <a:t>и букв с пробелом между ними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51586" y="2966357"/>
            <a:ext cx="4937655" cy="2068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 digitTest3 = /(\d{1,}\s[</a:t>
            </a:r>
            <a:r>
              <a:rPr lang="ru-RU" dirty="0"/>
              <a:t>а-я]+)/</a:t>
            </a:r>
            <a:r>
              <a:rPr lang="en-US" dirty="0"/>
              <a:t>g;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(digitTest3, '&lt;strong style="color: lime"&gt;$1&lt;/strong&gt;')+'&lt;/pre&gt;'); </a:t>
            </a:r>
            <a:endParaRPr lang="ru-RU" dirty="0"/>
          </a:p>
        </p:txBody>
      </p:sp>
      <p:sp>
        <p:nvSpPr>
          <p:cNvPr id="5" name="Объект 3"/>
          <p:cNvSpPr txBox="1"/>
          <p:nvPr/>
        </p:nvSpPr>
        <p:spPr>
          <a:xfrm>
            <a:off x="9218611" y="783772"/>
            <a:ext cx="3618896" cy="428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endParaRPr lang="ru-RU" dirty="0"/>
          </a:p>
        </p:txBody>
      </p:sp>
      <p:sp>
        <p:nvSpPr>
          <p:cNvPr id="6" name="Объект 3"/>
          <p:cNvSpPr txBox="1"/>
          <p:nvPr/>
        </p:nvSpPr>
        <p:spPr>
          <a:xfrm>
            <a:off x="577684" y="2714625"/>
            <a:ext cx="5508171" cy="235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let digitTest2 = /(\d\s[</a:t>
            </a:r>
            <a:r>
              <a:rPr lang="ru-RU" dirty="0"/>
              <a:t>а-я]+)/</a:t>
            </a:r>
            <a:r>
              <a:rPr lang="en-US" dirty="0"/>
              <a:t>g;</a:t>
            </a: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 err="1"/>
              <a:t>document.write</a:t>
            </a:r>
            <a:r>
              <a:rPr lang="en-US" dirty="0"/>
              <a:t>('&lt;pre&gt;'+</a:t>
            </a:r>
            <a:r>
              <a:rPr lang="en-US" dirty="0" err="1"/>
              <a:t>textHistory.replace</a:t>
            </a:r>
            <a:r>
              <a:rPr lang="en-US" dirty="0"/>
              <a:t>(digitTest2, '&lt;span style="color: red"&gt;$1&lt;/span&gt;')+'&lt;/pre&gt;'); </a:t>
            </a:r>
            <a:endParaRPr lang="ru-RU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485550" y="493685"/>
            <a:ext cx="5332638" cy="1822703"/>
          </a:xfrm>
        </p:spPr>
      </p:pic>
      <p:pic>
        <p:nvPicPr>
          <p:cNvPr id="12" name="Объект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487282"/>
            <a:ext cx="5942978" cy="17482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Замена строк методом </a:t>
            </a:r>
            <a:r>
              <a:rPr lang="en-US" altLang="ru-RU"/>
              <a:t>r</a:t>
            </a:r>
            <a:r>
              <a:rPr lang="en-US" altLang="en-US"/>
              <a:t>eplaceAll()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Замена части строки выполняется без флага </a:t>
            </a:r>
            <a:r>
              <a:rPr lang="en-US" altLang="en-US">
                <a:solidFill>
                  <a:schemeClr val="tx1"/>
                </a:solidFill>
              </a:rPr>
              <a:t>g (global)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/>
              <a:t>document.write('&lt;pre&gt;' + poem.replaceAll('ру', '&lt;span style="color: tomato"&gt;ба&lt;/span&gt;') + '&lt;/pre&gt;');</a:t>
            </a:r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2"/>
          </p:nvPr>
        </p:nvPicPr>
        <p:blipFill>
          <a:blip r:embed="rId1"/>
          <a:srcRect t="46796" r="88198" b="12792"/>
          <a:stretch>
            <a:fillRect/>
          </a:stretch>
        </p:blipFill>
        <p:spPr>
          <a:xfrm>
            <a:off x="8070850" y="685800"/>
            <a:ext cx="2874010" cy="55346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Замена строк методом </a:t>
            </a:r>
            <a:r>
              <a:rPr lang="en-US" altLang="ru-RU"/>
              <a:t>r</a:t>
            </a:r>
            <a:r>
              <a:rPr lang="en-US" altLang="en-US"/>
              <a:t>eplaceAll()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Замена с регулярным выражением должна содержать флаг </a:t>
            </a:r>
            <a:r>
              <a:rPr lang="en-US" altLang="en-US">
                <a:solidFill>
                  <a:schemeClr val="tx1"/>
                </a:solidFill>
              </a:rPr>
              <a:t>g (global)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/>
              <a:t>document.write('&lt;pre&gt;' + textHistory.replaceAll(/(\d+)/g, '&lt;span style="color: tomato"&gt;$1&lt;/span&gt;') + '&lt;/pre&gt;');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rcRect l="-759" t="57391" r="63928" b="20297"/>
          <a:stretch>
            <a:fillRect/>
          </a:stretch>
        </p:blipFill>
        <p:spPr>
          <a:xfrm>
            <a:off x="5720715" y="1149350"/>
            <a:ext cx="6223000" cy="212026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ПреОбразование</a:t>
            </a:r>
            <a:r>
              <a:rPr lang="ru-RU" dirty="0"/>
              <a:t> строк с датой в тип </a:t>
            </a:r>
            <a:r>
              <a:rPr lang="en-US" dirty="0"/>
              <a:t>Date()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someDates</a:t>
            </a:r>
            <a:r>
              <a:rPr lang="en-US" dirty="0"/>
              <a:t> = ['22.06.1941', '12.04.1961', '01.09.1939', '07.11.1917', '24.08.1992', '12.12.2012', '01.01.2021'];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dateFormat</a:t>
            </a:r>
            <a:r>
              <a:rPr lang="en-US" dirty="0"/>
              <a:t> = </a:t>
            </a:r>
            <a:r>
              <a:rPr lang="en-US" dirty="0" err="1"/>
              <a:t>someDates.map</a:t>
            </a:r>
            <a:r>
              <a:rPr lang="en-US" dirty="0"/>
              <a:t>(one =&gt;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let </a:t>
            </a:r>
            <a:r>
              <a:rPr lang="en-US" dirty="0" err="1"/>
              <a:t>dateStr</a:t>
            </a:r>
            <a:r>
              <a:rPr lang="en-US" dirty="0"/>
              <a:t> = </a:t>
            </a:r>
            <a:r>
              <a:rPr lang="en-US" dirty="0" err="1"/>
              <a:t>one.replace</a:t>
            </a:r>
            <a:r>
              <a:rPr lang="en-US" dirty="0"/>
              <a:t>(/(\d{2})\.(\d{2})\./, '$2.$1.');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console.log(one, </a:t>
            </a:r>
            <a:r>
              <a:rPr lang="en-US" dirty="0" err="1"/>
              <a:t>dateStr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return new Date(</a:t>
            </a:r>
            <a:r>
              <a:rPr lang="en-US" dirty="0" err="1"/>
              <a:t>dateStr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console.log(</a:t>
            </a:r>
            <a:r>
              <a:rPr lang="en-US" dirty="0" err="1"/>
              <a:t>dateFormat</a:t>
            </a:r>
            <a:r>
              <a:rPr lang="en-US" dirty="0"/>
              <a:t>);</a:t>
            </a: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Изменение форматирования</a:t>
            </a:r>
            <a:r>
              <a:rPr lang="ru-RU" dirty="0"/>
              <a:t> строк с датой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895" y="685800"/>
            <a:ext cx="9528175" cy="3801745"/>
          </a:xfrm>
        </p:spPr>
        <p:txBody>
          <a:bodyPr/>
          <a:lstStyle/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Нужно преобразовать вывод строки Mon Aug 27 2018 01:10:00 GMT+0300 (Восточная Европа, летнее время) в </a:t>
            </a:r>
            <a:r>
              <a:rPr lang="ru-RU" altLang="en-US" b="1">
                <a:solidFill>
                  <a:schemeClr val="tx1"/>
                </a:solidFill>
              </a:rPr>
              <a:t>27 of Aug, 2018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/>
              <a:t>function replaceDate(dateStr){</a:t>
            </a:r>
            <a:endParaRPr lang="en-US"/>
          </a:p>
          <a:p>
            <a:pPr marL="0" indent="0">
              <a:buNone/>
            </a:pPr>
            <a:r>
              <a:rPr lang="en-US"/>
              <a:t> let date = new Date(dateStr).toDateString();</a:t>
            </a:r>
            <a:endParaRPr lang="en-US"/>
          </a:p>
          <a:p>
            <a:pPr marL="0" indent="0">
              <a:buNone/>
            </a:pPr>
            <a:r>
              <a:rPr lang="en-US"/>
              <a:t> return date.replace(/(\w+) (\w+) (\w+) (\w+)/,"$3 of $2, $4");</a:t>
            </a:r>
            <a:endParaRPr lang="en-US"/>
          </a:p>
          <a:p>
            <a:pPr marL="0" indent="0">
              <a:buNone/>
            </a:pPr>
            <a:r>
              <a:rPr lang="en-US"/>
              <a:t>}</a:t>
            </a:r>
            <a:endParaRPr lang="en-US"/>
          </a:p>
          <a:p>
            <a:pPr marL="0" indent="0">
              <a:buNone/>
            </a:pPr>
            <a:r>
              <a:rPr lang="en-US"/>
              <a:t> console.log(replaceDate('2018-08-27T01:10:00'));</a:t>
            </a:r>
            <a:endParaRPr lang="en-US"/>
          </a:p>
          <a:p>
            <a:pPr marL="0" indent="0">
              <a:buNone/>
            </a:pPr>
            <a:r>
              <a:rPr lang="en-US"/>
              <a:t> console.log(replaceDate('2021-01-04T12:03:00'));</a:t>
            </a:r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9174163" cy="1507067"/>
          </a:xfrm>
        </p:spPr>
        <p:txBody>
          <a:bodyPr>
            <a:normAutofit/>
          </a:bodyPr>
          <a:lstStyle/>
          <a:p>
            <a:r>
              <a:rPr lang="ru-RU" dirty="0"/>
              <a:t>Замена части строки с помощью стрелочной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 str = 'list-style-type';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strArr</a:t>
            </a:r>
            <a:r>
              <a:rPr lang="en-US" dirty="0"/>
              <a:t> = </a:t>
            </a:r>
            <a:r>
              <a:rPr lang="en-US" dirty="0" err="1"/>
              <a:t>str.split</a:t>
            </a:r>
            <a:r>
              <a:rPr lang="en-US" dirty="0"/>
              <a:t>('-');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strOutput</a:t>
            </a:r>
            <a:r>
              <a:rPr lang="en-US" dirty="0"/>
              <a:t> = </a:t>
            </a:r>
            <a:r>
              <a:rPr lang="en-US" dirty="0" err="1"/>
              <a:t>strArr.reduce</a:t>
            </a:r>
            <a:r>
              <a:rPr lang="en-US" dirty="0"/>
              <a:t>((first, next) =&gt; </a:t>
            </a:r>
            <a:r>
              <a:rPr lang="en-US" dirty="0" err="1"/>
              <a:t>first+next</a:t>
            </a:r>
            <a:r>
              <a:rPr lang="en-US" dirty="0"/>
              <a:t>[0].</a:t>
            </a:r>
            <a:r>
              <a:rPr lang="en-US" dirty="0" err="1"/>
              <a:t>toUpperCase</a:t>
            </a:r>
            <a:r>
              <a:rPr lang="en-US" dirty="0"/>
              <a:t>()+</a:t>
            </a:r>
            <a:r>
              <a:rPr lang="en-US" dirty="0" err="1"/>
              <a:t>next.slice</a:t>
            </a:r>
            <a:r>
              <a:rPr lang="en-US" dirty="0"/>
              <a:t>(1));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('&lt;p&gt;'+</a:t>
            </a:r>
            <a:r>
              <a:rPr lang="en-US" dirty="0" err="1"/>
              <a:t>strOutput</a:t>
            </a:r>
            <a:r>
              <a:rPr lang="en-US" dirty="0"/>
              <a:t>+'&lt;/p&gt;')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camel = </a:t>
            </a:r>
            <a:r>
              <a:rPr lang="en-US" dirty="0" err="1"/>
              <a:t>str.replace</a:t>
            </a:r>
            <a:r>
              <a:rPr lang="en-US" dirty="0"/>
              <a:t>(/(-[a-z])/g, str =&gt; </a:t>
            </a:r>
            <a:r>
              <a:rPr lang="en-US" dirty="0" err="1"/>
              <a:t>str.slice</a:t>
            </a:r>
            <a:r>
              <a:rPr lang="en-US" dirty="0"/>
              <a:t>(1).</a:t>
            </a:r>
            <a:r>
              <a:rPr lang="en-US" dirty="0" err="1"/>
              <a:t>toUpperCase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('&lt;p&gt;'+camel+'&lt;/p&gt;')</a:t>
            </a:r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 </a:t>
            </a:r>
            <a:r>
              <a:rPr lang="en-US" altLang="en-US"/>
              <a:t>split() </a:t>
            </a:r>
            <a:r>
              <a:rPr lang="ru-RU" altLang="en-US"/>
              <a:t>с разделителем в виде регулярного выражения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895" y="685800"/>
            <a:ext cx="9599295" cy="3959225"/>
          </a:xfrm>
        </p:spPr>
        <p:txBody>
          <a:bodyPr>
            <a:normAutofit/>
          </a:bodyPr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1) let paragraph = 'Good Morning! How are you? This is John. John is my friend.';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let sentences = paragraph.split(/[!,?,.]/);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console.log(sentences); </a:t>
            </a:r>
            <a:r>
              <a:rPr lang="en-US" altLang="ru-RU"/>
              <a:t>//</a:t>
            </a:r>
            <a:r>
              <a:rPr lang="ru-RU" altLang="en-US"/>
              <a:t>в консоли</a:t>
            </a:r>
            <a:endParaRPr lang="en-US"/>
          </a:p>
          <a:p>
            <a:pPr marL="0" indent="0">
              <a:buNone/>
            </a:pPr>
            <a:r>
              <a:rPr lang="en-US"/>
              <a:t>//['Good Morning', ' How are you', ' This is John', ' John is my friend', '']</a:t>
            </a:r>
            <a:endParaRPr lang="en-US"/>
          </a:p>
          <a:p>
            <a:pPr marL="0" indent="0">
              <a:buNone/>
            </a:pPr>
            <a:r>
              <a:rPr lang="en-US"/>
              <a:t>2) const date = "04-21-2022";</a:t>
            </a:r>
            <a:endParaRPr lang="en-US"/>
          </a:p>
          <a:p>
            <a:pPr marL="0" indent="0">
              <a:buNone/>
            </a:pPr>
            <a:r>
              <a:rPr lang="en-US"/>
              <a:t>const mySplits = date.split(/[.,\/ -]/);</a:t>
            </a:r>
            <a:endParaRPr lang="en-US"/>
          </a:p>
          <a:p>
            <a:pPr marL="0" indent="0">
              <a:buNone/>
            </a:pPr>
            <a:r>
              <a:rPr lang="en-US"/>
              <a:t>console.log(mySplits);   //[ "04", "21", "2022" ]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9174163" cy="1507067"/>
          </a:xfrm>
        </p:spPr>
        <p:txBody>
          <a:bodyPr>
            <a:normAutofit/>
          </a:bodyPr>
          <a:lstStyle/>
          <a:p>
            <a:r>
              <a:rPr lang="ru-RU" dirty="0"/>
              <a:t>Замена части строки с помощью стрелочной функции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var str = 'list-style-type';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strArr</a:t>
            </a:r>
            <a:r>
              <a:rPr lang="en-US" dirty="0"/>
              <a:t> = </a:t>
            </a:r>
            <a:r>
              <a:rPr lang="en-US" dirty="0" err="1"/>
              <a:t>str.split</a:t>
            </a:r>
            <a:r>
              <a:rPr lang="en-US" dirty="0"/>
              <a:t>('-');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</a:t>
            </a:r>
            <a:r>
              <a:rPr lang="en-US" dirty="0" err="1"/>
              <a:t>strOutput</a:t>
            </a:r>
            <a:r>
              <a:rPr lang="en-US" dirty="0"/>
              <a:t> = </a:t>
            </a:r>
            <a:r>
              <a:rPr lang="en-US" dirty="0" err="1"/>
              <a:t>strArr.reduce</a:t>
            </a:r>
            <a:r>
              <a:rPr lang="en-US" dirty="0"/>
              <a:t>((first, next) =&gt; </a:t>
            </a:r>
            <a:r>
              <a:rPr lang="en-US" dirty="0" err="1"/>
              <a:t>first+next</a:t>
            </a:r>
            <a:r>
              <a:rPr lang="en-US" dirty="0"/>
              <a:t>[0].</a:t>
            </a:r>
            <a:r>
              <a:rPr lang="en-US" dirty="0" err="1"/>
              <a:t>toUpperCase</a:t>
            </a:r>
            <a:r>
              <a:rPr lang="en-US" dirty="0"/>
              <a:t>()+</a:t>
            </a:r>
            <a:r>
              <a:rPr lang="en-US" dirty="0" err="1"/>
              <a:t>next.slice</a:t>
            </a:r>
            <a:r>
              <a:rPr lang="en-US" dirty="0"/>
              <a:t>(1));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('&lt;p&gt;'+</a:t>
            </a:r>
            <a:r>
              <a:rPr lang="en-US" dirty="0" err="1"/>
              <a:t>strOutput</a:t>
            </a:r>
            <a:r>
              <a:rPr lang="en-US" dirty="0"/>
              <a:t>+'&lt;/p&gt;')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let camel = </a:t>
            </a:r>
            <a:r>
              <a:rPr lang="en-US" dirty="0" err="1"/>
              <a:t>str.replace</a:t>
            </a:r>
            <a:r>
              <a:rPr lang="en-US" dirty="0"/>
              <a:t>(/(-[a-z])/g, str =&gt; </a:t>
            </a:r>
            <a:r>
              <a:rPr lang="en-US" dirty="0" err="1"/>
              <a:t>str.slice</a:t>
            </a:r>
            <a:r>
              <a:rPr lang="en-US" dirty="0"/>
              <a:t>(1).</a:t>
            </a:r>
            <a:r>
              <a:rPr lang="en-US" dirty="0" err="1"/>
              <a:t>toUpperCase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document.write</a:t>
            </a:r>
            <a:r>
              <a:rPr lang="en-US" dirty="0"/>
              <a:t>('&lt;p&gt;'+camel+'&lt;/p&gt;')</a:t>
            </a:r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метод </a:t>
            </a:r>
            <a:r>
              <a:rPr lang="en-US" altLang="en-US"/>
              <a:t>split() </a:t>
            </a:r>
            <a:r>
              <a:rPr lang="ru-RU" altLang="en-US"/>
              <a:t>с разделителем в виде регулярного выражения</a:t>
            </a:r>
            <a:endParaRPr lang="ru-RU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895" y="685800"/>
            <a:ext cx="9599295" cy="361505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ru-RU" altLang="en-US">
                <a:solidFill>
                  <a:schemeClr val="tx1"/>
                </a:solidFill>
              </a:rPr>
              <a:t>В случае, если в регулярном выражении есть скобки, в конечный массив попадут и разделители:</a:t>
            </a:r>
            <a:endParaRPr lang="ru-RU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/>
              <a:t>let paragraph = 'Good Morning! How are you? This is John. John is my friend.'; </a:t>
            </a:r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let sentences = paragraph.split(/([!,?,.])/); </a:t>
            </a: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>
                <a:sym typeface="+mn-ea"/>
              </a:rPr>
              <a:t>console.log(sentences);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altLang="ru-RU"/>
              <a:t>//</a:t>
            </a:r>
            <a:r>
              <a:rPr lang="ru-RU" altLang="en-US"/>
              <a:t>в консоли</a:t>
            </a:r>
            <a:endParaRPr lang="en-US"/>
          </a:p>
          <a:p>
            <a:pPr marL="0" indent="0">
              <a:buNone/>
            </a:pPr>
            <a:r>
              <a:rPr lang="en-US"/>
              <a:t>//(9) ['Good Morning', '!', ' How are you', '?', ' This is John', '.', ' John is my friend', '.', '']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Регулярные выражения онлайн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912" y="872065"/>
            <a:ext cx="8534400" cy="3615267"/>
          </a:xfrm>
        </p:spPr>
        <p:txBody>
          <a:bodyPr/>
          <a:lstStyle/>
          <a:p>
            <a:r>
              <a:rPr lang="en-US" dirty="0">
                <a:hlinkClick r:id="rId1"/>
              </a:rPr>
              <a:t>https://regex101.com/</a:t>
            </a: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https://www.regextester.com/</a:t>
            </a:r>
            <a:endParaRPr lang="ru-RU" dirty="0"/>
          </a:p>
          <a:p>
            <a:r>
              <a:rPr lang="en-US" dirty="0">
                <a:hlinkClick r:id="rId3"/>
              </a:rPr>
              <a:t>https://regexr.com/</a:t>
            </a:r>
            <a:endParaRPr lang="ru-RU" dirty="0"/>
          </a:p>
          <a:p>
            <a:r>
              <a:rPr lang="en-US" dirty="0">
                <a:hlinkClick r:id="rId4"/>
              </a:rPr>
              <a:t>https://www.freeformatter.com/regex-tester.html</a:t>
            </a:r>
            <a:r>
              <a:rPr lang="ru-RU" dirty="0"/>
              <a:t> 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Смотреть на </a:t>
            </a:r>
            <a:r>
              <a:rPr lang="en-US" dirty="0" err="1"/>
              <a:t>youtube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1"/>
              </a:rPr>
              <a:t>https://www.youtube.com/watch?v=pSdXUgOLpwo</a:t>
            </a:r>
            <a:endParaRPr lang="en-US" dirty="0"/>
          </a:p>
          <a:p>
            <a:r>
              <a:rPr lang="en-US" dirty="0">
                <a:hlinkClick r:id="rId2"/>
              </a:rPr>
              <a:t>https://www.youtube.com/watch?v=mCWJ1fvosSg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https://www.youtube.com/watch?v=cXX3O8eyOuQ</a:t>
            </a:r>
            <a:endParaRPr lang="en-US" dirty="0"/>
          </a:p>
          <a:p>
            <a:r>
              <a:rPr lang="en-US" dirty="0"/>
              <a:t>https://www.youtube.com/watch?v=k7UxBSZy40w</a:t>
            </a:r>
            <a:endParaRPr lang="en-US" dirty="0"/>
          </a:p>
          <a:p>
            <a:endParaRPr lang="ru-RU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9*160"/>
  <p:tag name="TABLE_ENDDRAG_RECT" val="312*54*599*160"/>
</p:tagLst>
</file>

<file path=ppt/tags/tag2.xml><?xml version="1.0" encoding="utf-8"?>
<p:tagLst xmlns:p="http://schemas.openxmlformats.org/presentationml/2006/main">
  <p:tag name="TABLE_ENDDRAG_ORIGIN_RECT" val="774*294"/>
  <p:tag name="TABLE_ENDDRAG_RECT" val="58*54*774*294"/>
</p:tagLst>
</file>

<file path=ppt/tags/tag3.xml><?xml version="1.0" encoding="utf-8"?>
<p:tagLst xmlns:p="http://schemas.openxmlformats.org/presentationml/2006/main">
  <p:tag name="TABLE_ENDDRAG_ORIGIN_RECT" val="788*357"/>
  <p:tag name="TABLE_ENDDRAG_RECT" val="74*33*788*357"/>
</p:tagLst>
</file>

<file path=ppt/tags/tag4.xml><?xml version="1.0" encoding="utf-8"?>
<p:tagLst xmlns:p="http://schemas.openxmlformats.org/presentationml/2006/main">
  <p:tag name="TABLE_ENDDRAG_ORIGIN_RECT" val="724*193"/>
  <p:tag name="TABLE_ENDDRAG_RECT" val="61*145*724*193"/>
</p:tagLst>
</file>

<file path=ppt/tags/tag5.xml><?xml version="1.0" encoding="utf-8"?>
<p:tagLst xmlns:p="http://schemas.openxmlformats.org/presentationml/2006/main">
  <p:tag name="TABLE_ENDDRAG_ORIGIN_RECT" val="724*193"/>
  <p:tag name="TABLE_ENDDRAG_RECT" val="61*145*724*193"/>
</p:tagLst>
</file>

<file path=ppt/tags/tag6.xml><?xml version="1.0" encoding="utf-8"?>
<p:tagLst xmlns:p="http://schemas.openxmlformats.org/presentationml/2006/main">
  <p:tag name="TABLE_ENDDRAG_ORIGIN_RECT" val="724*193"/>
  <p:tag name="TABLE_ENDDRAG_RECT" val="61*145*724*193"/>
</p:tagLst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21368</Words>
  <Application>WPS Slides</Application>
  <PresentationFormat>Широкоэкранный</PresentationFormat>
  <Paragraphs>755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Arial</vt:lpstr>
      <vt:lpstr>SimSun</vt:lpstr>
      <vt:lpstr>Wingdings</vt:lpstr>
      <vt:lpstr>Wingdings 3</vt:lpstr>
      <vt:lpstr>Century Gothic</vt:lpstr>
      <vt:lpstr>Microsoft YaHei</vt:lpstr>
      <vt:lpstr>Arial Unicode MS</vt:lpstr>
      <vt:lpstr>Calibri</vt:lpstr>
      <vt:lpstr>BlinkMacSystemFont</vt:lpstr>
      <vt:lpstr>Consolas</vt:lpstr>
      <vt:lpstr>Euphorigenic</vt:lpstr>
      <vt:lpstr>Сектор</vt:lpstr>
      <vt:lpstr>RegExp</vt:lpstr>
      <vt:lpstr>Регулярные выражения </vt:lpstr>
      <vt:lpstr>Синтаксис: основы</vt:lpstr>
      <vt:lpstr>Расширенный поиск с флагами</vt:lpstr>
      <vt:lpstr>Шаблоны выражений/Классы символов</vt:lpstr>
      <vt:lpstr>Предопределенные классы символов</vt:lpstr>
      <vt:lpstr>Проверка (Валидация) Email</vt:lpstr>
      <vt:lpstr>Пример с атрибутом pattern в HTML</vt:lpstr>
      <vt:lpstr>Экранирование символов</vt:lpstr>
      <vt:lpstr>Группировка и альтернативы</vt:lpstr>
      <vt:lpstr>Операторы в регулярных выражениях</vt:lpstr>
      <vt:lpstr>Оператори повторення</vt:lpstr>
      <vt:lpstr>Операторы повторения</vt:lpstr>
      <vt:lpstr>Начало и конец строки</vt:lpstr>
      <vt:lpstr>Пример с проверкой в Конце строки</vt:lpstr>
      <vt:lpstr>Пример с вводом логина Твиттер (сеть X), начинающегося с @</vt:lpstr>
      <vt:lpstr>Пример с проверкой соответствия 16-ричному цвету</vt:lpstr>
      <vt:lpstr>Методи для регулярних виразів</vt:lpstr>
      <vt:lpstr>Метод STRING.match(ReGEXP) </vt:lpstr>
      <vt:lpstr>Метод str.match(regexp)</vt:lpstr>
      <vt:lpstr>Метод STRING.match(ReGEXP) </vt:lpstr>
      <vt:lpstr>Метод STRING.match(ReGEXP) </vt:lpstr>
      <vt:lpstr>PowerPoint 演示文稿</vt:lpstr>
      <vt:lpstr>Поиск всех ссылок на странице</vt:lpstr>
      <vt:lpstr>Проверка email</vt:lpstr>
      <vt:lpstr>Метод STRING.match(ReGEXP)  Пример: получаем расширение файла</vt:lpstr>
      <vt:lpstr>Начало и конец строки Метод regexObj.test(str)</vt:lpstr>
      <vt:lpstr>Метод regexObj.test(str)</vt:lpstr>
      <vt:lpstr>Использование RegExp.test()</vt:lpstr>
      <vt:lpstr>Проверка URL на правильность</vt:lpstr>
      <vt:lpstr>Метод string.replace()</vt:lpstr>
      <vt:lpstr>Метод string.replace()</vt:lpstr>
      <vt:lpstr>Маска для номера телефона</vt:lpstr>
      <vt:lpstr>Простые совпадения</vt:lpstr>
      <vt:lpstr>Замена с учетом пробела</vt:lpstr>
      <vt:lpstr>Замена методом replaceAll()</vt:lpstr>
      <vt:lpstr>Текст для проверок</vt:lpstr>
      <vt:lpstr>Ищем гласные и НЕгласные  буквы – диапазон символов</vt:lpstr>
      <vt:lpstr>Ищем СОгласные буквы – диапазон символов с исключением и без</vt:lpstr>
      <vt:lpstr>Замена Группы Цифр</vt:lpstr>
      <vt:lpstr>Замена Группы Цифр и букв с пробелом между ними</vt:lpstr>
      <vt:lpstr>Замена строк методом replaceAll()</vt:lpstr>
      <vt:lpstr>Замена строк методом replaceAll()</vt:lpstr>
      <vt:lpstr>ПреОбразование строк с датой в тип Date()</vt:lpstr>
      <vt:lpstr>Изменение форматирования строк с датой </vt:lpstr>
      <vt:lpstr>Замена части строки с помощью стрелочной функции</vt:lpstr>
      <vt:lpstr>метод split() с разделителем в виде регулярного выражения</vt:lpstr>
      <vt:lpstr>Замена части строки с помощью стрелочной функции</vt:lpstr>
      <vt:lpstr>метод split() с разделителем в виде регулярного выражения</vt:lpstr>
      <vt:lpstr>Регулярные выражения онлайн</vt:lpstr>
      <vt:lpstr>Смотреть на youtube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RegExp</dc:title>
  <dc:creator>Елена Слуцкая</dc:creator>
  <cp:lastModifiedBy>olena</cp:lastModifiedBy>
  <cp:revision>89</cp:revision>
  <dcterms:created xsi:type="dcterms:W3CDTF">2020-10-08T21:06:00Z</dcterms:created>
  <dcterms:modified xsi:type="dcterms:W3CDTF">2025-05-05T07:12:43Z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1033-12.2.0.20795</vt:lpwstr>
  </property>
  <property fmtid="{D5CDD505-2E9C-101B-9397-08002B2CF9AE}" pid="3" name="ICV">
    <vt:lpwstr>CCA6C3FC106649CDB8F59B554581DD2C</vt:lpwstr>
  </property>
</Properties>
</file>